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682619"/>
            <a:ext cx="8286750" cy="960053"/>
          </a:xfrm>
          <a:prstGeom prst="rect">
            <a:avLst/>
          </a:prstGeom>
          <a:noFill/>
          <a:ln/>
        </p:spPr>
        <p:txBody>
          <a:bodyPr wrap="square" lIns="0" tIns="0" rIns="0" bIns="0" rtlCol="0" anchor="t">
            <a:spAutoFit/>
          </a:bodyPr>
          <a:lstStyle/>
          <a:p>
            <a:pPr algn="r" indent="0" marL="0">
              <a:lnSpc>
                <a:spcPct val="96000"/>
              </a:lnSpc>
              <a:buNone/>
            </a:pPr>
            <a:r>
              <a:rPr lang="en-US" sz="2850" b="1" dirty="0">
                <a:solidFill>
                  <a:srgbClr val="0F172A"/>
                </a:solidFill>
                <a:latin typeface="Noto Kufi Arabic Bold" pitchFamily="34" charset="0"/>
                <a:ea typeface="Noto Kufi Arabic Bold" pitchFamily="34" charset="-122"/>
                <a:cs typeface="Noto Kufi Arabic Bold" pitchFamily="34" charset="-120"/>
              </a:rPr>
              <a:t>محاكاة تدقيق نظام إدارة أمن المعلومات</a:t>
            </a:r>
            <a:r>
              <a:rPr lang="en-US" sz="2850" b="1" dirty="0">
                <a:solidFill>
                  <a:srgbClr val="0F172A"/>
                </a:solidFill>
                <a:latin typeface="Noto Kufi Arabic Bold" pitchFamily="34" charset="0"/>
                <a:ea typeface="Noto Kufi Arabic Bold" pitchFamily="34" charset="-122"/>
                <a:cs typeface="Noto Kufi Arabic Bold" pitchFamily="34" charset="-120"/>
              </a:rPr>
              <a:t>
</a:t>
            </a:r>
            <a:r>
              <a:rPr lang="en-US" sz="2850" b="1" dirty="0">
                <a:solidFill>
                  <a:srgbClr val="8B5CF6"/>
                </a:solidFill>
                <a:latin typeface="Noto Kufi Arabic Bold" pitchFamily="34" charset="0"/>
                <a:ea typeface="Noto Kufi Arabic Bold" pitchFamily="34" charset="-122"/>
                <a:cs typeface="Noto Kufi Arabic Bold" pitchFamily="34" charset="-120"/>
              </a:rPr>
              <a:t>بنك الآفاق الرقمية</a:t>
            </a:r>
            <a:endParaRPr lang="en-US" sz="2850" dirty="0"/>
          </a:p>
        </p:txBody>
      </p:sp>
      <p:sp>
        <p:nvSpPr>
          <p:cNvPr id="4" name="Shape 1"/>
          <p:cNvSpPr/>
          <p:nvPr/>
        </p:nvSpPr>
        <p:spPr>
          <a:xfrm>
            <a:off x="1500188" y="1928422"/>
            <a:ext cx="7215188" cy="2532459"/>
          </a:xfrm>
          <a:prstGeom prst="rect">
            <a:avLst/>
          </a:prstGeom>
          <a:solidFill>
            <a:srgbClr val="FFFFFF"/>
          </a:solidFill>
          <a:ln/>
        </p:spPr>
      </p:sp>
      <p:sp>
        <p:nvSpPr>
          <p:cNvPr id="5" name="Shape 2"/>
          <p:cNvSpPr/>
          <p:nvPr/>
        </p:nvSpPr>
        <p:spPr>
          <a:xfrm>
            <a:off x="1500188" y="1928422"/>
            <a:ext cx="7215188" cy="57150"/>
          </a:xfrm>
          <a:prstGeom prst="rect">
            <a:avLst/>
          </a:prstGeom>
          <a:solidFill>
            <a:srgbClr val="8B5CF6"/>
          </a:solidFill>
          <a:ln/>
        </p:spPr>
      </p:sp>
      <p:sp>
        <p:nvSpPr>
          <p:cNvPr id="6" name="Shape 3"/>
          <p:cNvSpPr/>
          <p:nvPr/>
        </p:nvSpPr>
        <p:spPr>
          <a:xfrm>
            <a:off x="8708231" y="1928422"/>
            <a:ext cx="7144" cy="2532459"/>
          </a:xfrm>
          <a:prstGeom prst="rect">
            <a:avLst/>
          </a:prstGeom>
          <a:solidFill>
            <a:srgbClr val="E2E8F0"/>
          </a:solidFill>
          <a:ln/>
        </p:spPr>
      </p:sp>
      <p:sp>
        <p:nvSpPr>
          <p:cNvPr id="7" name="Shape 4"/>
          <p:cNvSpPr/>
          <p:nvPr/>
        </p:nvSpPr>
        <p:spPr>
          <a:xfrm>
            <a:off x="1500188" y="4453737"/>
            <a:ext cx="7215188" cy="7144"/>
          </a:xfrm>
          <a:prstGeom prst="rect">
            <a:avLst/>
          </a:prstGeom>
          <a:solidFill>
            <a:srgbClr val="E2E8F0"/>
          </a:solidFill>
          <a:ln/>
        </p:spPr>
      </p:sp>
      <p:sp>
        <p:nvSpPr>
          <p:cNvPr id="8" name="Shape 5"/>
          <p:cNvSpPr/>
          <p:nvPr/>
        </p:nvSpPr>
        <p:spPr>
          <a:xfrm>
            <a:off x="1500188" y="1928422"/>
            <a:ext cx="7144" cy="2532459"/>
          </a:xfrm>
          <a:prstGeom prst="rect">
            <a:avLst/>
          </a:prstGeom>
          <a:solidFill>
            <a:srgbClr val="E2E8F0"/>
          </a:solidFill>
          <a:ln/>
        </p:spPr>
      </p:sp>
      <p:sp>
        <p:nvSpPr>
          <p:cNvPr id="9" name="Text 6"/>
          <p:cNvSpPr/>
          <p:nvPr/>
        </p:nvSpPr>
        <p:spPr>
          <a:xfrm>
            <a:off x="5222081" y="2246319"/>
            <a:ext cx="3207544" cy="242888"/>
          </a:xfrm>
          <a:prstGeom prst="rect">
            <a:avLst/>
          </a:prstGeom>
          <a:noFill/>
          <a:ln/>
        </p:spPr>
        <p:txBody>
          <a:bodyPr wrap="square" lIns="0" tIns="0" rIns="0" bIns="0" rtlCol="0" anchor="t">
            <a:spAutoFit/>
          </a:bodyPr>
          <a:lstStyle/>
          <a:p>
            <a:pPr algn="l" indent="0" marL="0">
              <a:buNone/>
            </a:pPr>
            <a:r>
              <a:rPr lang="en-US" sz="850" dirty="0">
                <a:solidFill>
                  <a:srgbClr val="64748B"/>
                </a:solidFill>
                <a:latin typeface="Noto Sans Arabic" pitchFamily="34" charset="0"/>
                <a:ea typeface="Noto Sans Arabic" pitchFamily="34" charset="-122"/>
                <a:cs typeface="Noto Sans Arabic" pitchFamily="34" charset="-120"/>
              </a:rPr>
              <a:t>فريق العمل</a:t>
            </a:r>
            <a:endParaRPr lang="en-US" sz="850" dirty="0"/>
          </a:p>
        </p:txBody>
      </p:sp>
      <p:sp>
        <p:nvSpPr>
          <p:cNvPr id="10" name="Text 7"/>
          <p:cNvSpPr/>
          <p:nvPr/>
        </p:nvSpPr>
        <p:spPr>
          <a:xfrm>
            <a:off x="5222081" y="2546356"/>
            <a:ext cx="3207544" cy="721519"/>
          </a:xfrm>
          <a:prstGeom prst="rect">
            <a:avLst/>
          </a:prstGeom>
          <a:noFill/>
          <a:ln/>
        </p:spPr>
        <p:txBody>
          <a:bodyPr wrap="square" lIns="0" tIns="0" rIns="0" bIns="0" rtlCol="0" anchor="t">
            <a:spAutoFit/>
          </a:bodyPr>
          <a:lstStyle/>
          <a:p>
            <a:pPr algn="l" indent="0" marL="0">
              <a:buNone/>
            </a:pPr>
            <a:r>
              <a:rPr lang="en-US" sz="1200" b="1" dirty="0">
                <a:solidFill>
                  <a:srgbClr val="0F172A"/>
                </a:solidFill>
                <a:latin typeface="Noto Sans Arabic Bold" pitchFamily="34" charset="0"/>
                <a:ea typeface="Noto Sans Arabic Bold" pitchFamily="34" charset="-122"/>
                <a:cs typeface="Noto Sans Arabic Bold" pitchFamily="34" charset="-120"/>
              </a:rPr>
              <a:t>عمار سعيد — عبد الرحمن السلفي — علي الأشول — غسان عباد</a:t>
            </a:r>
            <a:endParaRPr lang="en-US" sz="1200" dirty="0"/>
          </a:p>
        </p:txBody>
      </p:sp>
      <p:sp>
        <p:nvSpPr>
          <p:cNvPr id="11" name="Text 8"/>
          <p:cNvSpPr/>
          <p:nvPr/>
        </p:nvSpPr>
        <p:spPr>
          <a:xfrm>
            <a:off x="1800225" y="2246319"/>
            <a:ext cx="3207544" cy="242888"/>
          </a:xfrm>
          <a:prstGeom prst="rect">
            <a:avLst/>
          </a:prstGeom>
          <a:noFill/>
          <a:ln/>
        </p:spPr>
        <p:txBody>
          <a:bodyPr wrap="square" lIns="0" tIns="0" rIns="0" bIns="0" rtlCol="0" anchor="t">
            <a:spAutoFit/>
          </a:bodyPr>
          <a:lstStyle/>
          <a:p>
            <a:pPr algn="l" indent="0" marL="0">
              <a:buNone/>
            </a:pPr>
            <a:r>
              <a:rPr lang="en-US" sz="850" dirty="0">
                <a:solidFill>
                  <a:srgbClr val="64748B"/>
                </a:solidFill>
                <a:latin typeface="Noto Sans Arabic" pitchFamily="34" charset="0"/>
                <a:ea typeface="Noto Sans Arabic" pitchFamily="34" charset="-122"/>
                <a:cs typeface="Noto Sans Arabic" pitchFamily="34" charset="-120"/>
              </a:rPr>
              <a:t>المشروع</a:t>
            </a:r>
            <a:endParaRPr lang="en-US" sz="850" dirty="0"/>
          </a:p>
        </p:txBody>
      </p:sp>
      <p:sp>
        <p:nvSpPr>
          <p:cNvPr id="12" name="Text 9"/>
          <p:cNvSpPr/>
          <p:nvPr/>
        </p:nvSpPr>
        <p:spPr>
          <a:xfrm>
            <a:off x="1800225" y="2546356"/>
            <a:ext cx="3207544" cy="360759"/>
          </a:xfrm>
          <a:prstGeom prst="rect">
            <a:avLst/>
          </a:prstGeom>
          <a:noFill/>
          <a:ln/>
        </p:spPr>
        <p:txBody>
          <a:bodyPr wrap="square" lIns="0" tIns="0" rIns="0" bIns="0" rtlCol="0" anchor="t">
            <a:spAutoFit/>
          </a:bodyPr>
          <a:lstStyle/>
          <a:p>
            <a:pPr algn="l" indent="0" marL="0">
              <a:buNone/>
            </a:pPr>
            <a:r>
              <a:rPr lang="en-US" sz="1200" b="1" dirty="0">
                <a:solidFill>
                  <a:srgbClr val="0F172A"/>
                </a:solidFill>
                <a:latin typeface="Noto Sans Arabic Bold" pitchFamily="34" charset="0"/>
                <a:ea typeface="Noto Sans Arabic Bold" pitchFamily="34" charset="-122"/>
                <a:cs typeface="Noto Sans Arabic Bold" pitchFamily="34" charset="-120"/>
              </a:rPr>
              <a:t>تطبيق ISO/IEC 27001:2022</a:t>
            </a:r>
            <a:endParaRPr lang="en-US" sz="1200" dirty="0"/>
          </a:p>
        </p:txBody>
      </p:sp>
      <p:sp>
        <p:nvSpPr>
          <p:cNvPr id="13" name="Text 10"/>
          <p:cNvSpPr/>
          <p:nvPr/>
        </p:nvSpPr>
        <p:spPr>
          <a:xfrm>
            <a:off x="5222081" y="3482187"/>
            <a:ext cx="3207544" cy="242888"/>
          </a:xfrm>
          <a:prstGeom prst="rect">
            <a:avLst/>
          </a:prstGeom>
          <a:noFill/>
          <a:ln/>
        </p:spPr>
        <p:txBody>
          <a:bodyPr wrap="square" lIns="0" tIns="0" rIns="0" bIns="0" rtlCol="0" anchor="t">
            <a:spAutoFit/>
          </a:bodyPr>
          <a:lstStyle/>
          <a:p>
            <a:pPr algn="l" indent="0" marL="0">
              <a:buNone/>
            </a:pPr>
            <a:r>
              <a:rPr lang="en-US" sz="850" dirty="0">
                <a:solidFill>
                  <a:srgbClr val="64748B"/>
                </a:solidFill>
                <a:latin typeface="Noto Sans Arabic" pitchFamily="34" charset="0"/>
                <a:ea typeface="Noto Sans Arabic" pitchFamily="34" charset="-122"/>
                <a:cs typeface="Noto Sans Arabic" pitchFamily="34" charset="-120"/>
              </a:rPr>
              <a:t>التاريخ</a:t>
            </a:r>
            <a:endParaRPr lang="en-US" sz="850" dirty="0"/>
          </a:p>
        </p:txBody>
      </p:sp>
      <p:sp>
        <p:nvSpPr>
          <p:cNvPr id="14" name="Text 11"/>
          <p:cNvSpPr/>
          <p:nvPr/>
        </p:nvSpPr>
        <p:spPr>
          <a:xfrm>
            <a:off x="5222081" y="3782225"/>
            <a:ext cx="3207544" cy="360759"/>
          </a:xfrm>
          <a:prstGeom prst="rect">
            <a:avLst/>
          </a:prstGeom>
          <a:noFill/>
          <a:ln/>
        </p:spPr>
        <p:txBody>
          <a:bodyPr wrap="square" lIns="0" tIns="0" rIns="0" bIns="0" rtlCol="0" anchor="t">
            <a:spAutoFit/>
          </a:bodyPr>
          <a:lstStyle/>
          <a:p>
            <a:pPr algn="l" indent="0" marL="0">
              <a:buNone/>
            </a:pPr>
            <a:r>
              <a:rPr lang="en-US" sz="1200" b="1" dirty="0">
                <a:solidFill>
                  <a:srgbClr val="0F172A"/>
                </a:solidFill>
                <a:latin typeface="Noto Sans Arabic Bold" pitchFamily="34" charset="0"/>
                <a:ea typeface="Noto Sans Arabic Bold" pitchFamily="34" charset="-122"/>
                <a:cs typeface="Noto Sans Arabic Bold" pitchFamily="34" charset="-120"/>
              </a:rPr>
              <a:t>08 سبتمبر 2026</a:t>
            </a:r>
            <a:endParaRPr lang="en-US" sz="1200" dirty="0"/>
          </a:p>
        </p:txBody>
      </p:sp>
      <p:sp>
        <p:nvSpPr>
          <p:cNvPr id="15" name="Text 12"/>
          <p:cNvSpPr/>
          <p:nvPr/>
        </p:nvSpPr>
        <p:spPr>
          <a:xfrm>
            <a:off x="1800225" y="3482187"/>
            <a:ext cx="3207544" cy="242888"/>
          </a:xfrm>
          <a:prstGeom prst="rect">
            <a:avLst/>
          </a:prstGeom>
          <a:noFill/>
          <a:ln/>
        </p:spPr>
        <p:txBody>
          <a:bodyPr wrap="square" lIns="0" tIns="0" rIns="0" bIns="0" rtlCol="0" anchor="t">
            <a:spAutoFit/>
          </a:bodyPr>
          <a:lstStyle/>
          <a:p>
            <a:pPr algn="l" indent="0" marL="0">
              <a:buNone/>
            </a:pPr>
            <a:r>
              <a:rPr lang="en-US" sz="850" dirty="0">
                <a:solidFill>
                  <a:srgbClr val="64748B"/>
                </a:solidFill>
                <a:latin typeface="Noto Sans Arabic" pitchFamily="34" charset="0"/>
                <a:ea typeface="Noto Sans Arabic" pitchFamily="34" charset="-122"/>
                <a:cs typeface="Noto Sans Arabic" pitchFamily="34" charset="-120"/>
              </a:rPr>
              <a:t>الحالة</a:t>
            </a:r>
            <a:endParaRPr lang="en-US" sz="850" dirty="0"/>
          </a:p>
        </p:txBody>
      </p:sp>
      <p:sp>
        <p:nvSpPr>
          <p:cNvPr id="16" name="Text 13"/>
          <p:cNvSpPr/>
          <p:nvPr/>
        </p:nvSpPr>
        <p:spPr>
          <a:xfrm>
            <a:off x="1800225" y="3782225"/>
            <a:ext cx="3207544" cy="360759"/>
          </a:xfrm>
          <a:prstGeom prst="rect">
            <a:avLst/>
          </a:prstGeom>
          <a:noFill/>
          <a:ln/>
        </p:spPr>
        <p:txBody>
          <a:bodyPr wrap="square" lIns="0" tIns="0" rIns="0" bIns="0" rtlCol="0" anchor="t">
            <a:spAutoFit/>
          </a:bodyPr>
          <a:lstStyle/>
          <a:p>
            <a:pPr algn="l" indent="0" marL="0">
              <a:buNone/>
            </a:pPr>
            <a:r>
              <a:rPr lang="en-US" sz="1200" b="1" dirty="0">
                <a:solidFill>
                  <a:srgbClr val="0F172A"/>
                </a:solidFill>
                <a:latin typeface="Noto Sans Arabic Bold" pitchFamily="34" charset="0"/>
                <a:ea typeface="Noto Sans Arabic Bold" pitchFamily="34" charset="-122"/>
                <a:cs typeface="Noto Sans Arabic Bold" pitchFamily="34" charset="-120"/>
              </a:rPr>
              <a:t>جاهز للتدقيق الخارجي</a:t>
            </a:r>
            <a:endParaRPr lang="en-US" sz="1200" dirty="0"/>
          </a:p>
        </p:txBody>
      </p:sp>
      <p:sp>
        <p:nvSpPr>
          <p:cNvPr id="17" name="Text 14"/>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18" name="Text 15"/>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517922"/>
          </a:xfrm>
          <a:prstGeom prst="rect">
            <a:avLst/>
          </a:prstGeom>
          <a:solidFill>
            <a:srgbClr val="000000">
              <a:alpha val="0"/>
            </a:srgbClr>
          </a:solidFill>
          <a:ln/>
        </p:spPr>
      </p:sp>
      <p:sp>
        <p:nvSpPr>
          <p:cNvPr id="4" name="Shape 1"/>
          <p:cNvSpPr/>
          <p:nvPr/>
        </p:nvSpPr>
        <p:spPr>
          <a:xfrm>
            <a:off x="285750" y="789384"/>
            <a:ext cx="8572500" cy="14288"/>
          </a:xfrm>
          <a:prstGeom prst="rect">
            <a:avLst/>
          </a:prstGeom>
          <a:solidFill>
            <a:srgbClr val="8B5CF6"/>
          </a:solidFill>
          <a:ln/>
        </p:spPr>
      </p:sp>
      <p:sp>
        <p:nvSpPr>
          <p:cNvPr id="5" name="Text 2"/>
          <p:cNvSpPr/>
          <p:nvPr/>
        </p:nvSpPr>
        <p:spPr>
          <a:xfrm>
            <a:off x="285750" y="285750"/>
            <a:ext cx="8572500" cy="517922"/>
          </a:xfrm>
          <a:prstGeom prst="rect">
            <a:avLst/>
          </a:prstGeom>
          <a:noFill/>
          <a:ln/>
        </p:spPr>
        <p:txBody>
          <a:bodyPr wrap="square" lIns="0" tIns="0" rIns="0" bIns="85090" rtlCol="0" anchor="t">
            <a:spAutoFit/>
          </a:bodyPr>
          <a:lstStyle/>
          <a:p>
            <a:pPr algn="l" indent="0" marL="0">
              <a:buNone/>
            </a:pPr>
            <a:r>
              <a:rPr lang="en-US" sz="1600" b="1" dirty="0">
                <a:solidFill>
                  <a:srgbClr val="0F172A"/>
                </a:solidFill>
                <a:latin typeface="Noto Kufi Arabic Bold" pitchFamily="34" charset="0"/>
                <a:ea typeface="Noto Kufi Arabic Bold" pitchFamily="34" charset="-122"/>
                <a:cs typeface="Noto Kufi Arabic Bold" pitchFamily="34" charset="-120"/>
              </a:rPr>
              <a:t>رحلة بناء نظام إدارة أمن المعلومات</a:t>
            </a:r>
            <a:endParaRPr lang="en-US" sz="1600" dirty="0"/>
          </a:p>
        </p:txBody>
      </p:sp>
      <p:sp>
        <p:nvSpPr>
          <p:cNvPr id="6" name="Shape 3"/>
          <p:cNvSpPr/>
          <p:nvPr/>
        </p:nvSpPr>
        <p:spPr>
          <a:xfrm>
            <a:off x="7272338" y="1360884"/>
            <a:ext cx="1585913" cy="839391"/>
          </a:xfrm>
          <a:prstGeom prst="rect">
            <a:avLst/>
          </a:prstGeom>
          <a:solidFill>
            <a:srgbClr val="FFFFFF"/>
          </a:solidFill>
          <a:ln/>
        </p:spPr>
      </p:sp>
      <p:sp>
        <p:nvSpPr>
          <p:cNvPr id="7" name="Shape 4"/>
          <p:cNvSpPr/>
          <p:nvPr/>
        </p:nvSpPr>
        <p:spPr>
          <a:xfrm>
            <a:off x="7272338" y="1360884"/>
            <a:ext cx="1585913" cy="28575"/>
          </a:xfrm>
          <a:prstGeom prst="rect">
            <a:avLst/>
          </a:prstGeom>
          <a:solidFill>
            <a:srgbClr val="8B5CF6"/>
          </a:solidFill>
          <a:ln/>
        </p:spPr>
      </p:sp>
      <p:sp>
        <p:nvSpPr>
          <p:cNvPr id="8" name="Shape 5"/>
          <p:cNvSpPr/>
          <p:nvPr/>
        </p:nvSpPr>
        <p:spPr>
          <a:xfrm>
            <a:off x="8851106" y="1360884"/>
            <a:ext cx="7144" cy="839391"/>
          </a:xfrm>
          <a:prstGeom prst="rect">
            <a:avLst/>
          </a:prstGeom>
          <a:solidFill>
            <a:srgbClr val="E2E8F0"/>
          </a:solidFill>
          <a:ln/>
        </p:spPr>
      </p:sp>
      <p:sp>
        <p:nvSpPr>
          <p:cNvPr id="9" name="Shape 6"/>
          <p:cNvSpPr/>
          <p:nvPr/>
        </p:nvSpPr>
        <p:spPr>
          <a:xfrm>
            <a:off x="7272338" y="2193131"/>
            <a:ext cx="1585913" cy="7144"/>
          </a:xfrm>
          <a:prstGeom prst="rect">
            <a:avLst/>
          </a:prstGeom>
          <a:solidFill>
            <a:srgbClr val="E2E8F0"/>
          </a:solidFill>
          <a:ln/>
        </p:spPr>
      </p:sp>
      <p:sp>
        <p:nvSpPr>
          <p:cNvPr id="10" name="Shape 7"/>
          <p:cNvSpPr/>
          <p:nvPr/>
        </p:nvSpPr>
        <p:spPr>
          <a:xfrm>
            <a:off x="7272338" y="1360884"/>
            <a:ext cx="7144" cy="839391"/>
          </a:xfrm>
          <a:prstGeom prst="rect">
            <a:avLst/>
          </a:prstGeom>
          <a:solidFill>
            <a:srgbClr val="E2E8F0"/>
          </a:solidFill>
          <a:ln/>
        </p:spPr>
      </p:sp>
      <p:sp>
        <p:nvSpPr>
          <p:cNvPr id="11" name="Text 8"/>
          <p:cNvSpPr/>
          <p:nvPr/>
        </p:nvSpPr>
        <p:spPr>
          <a:xfrm>
            <a:off x="7429500" y="1521619"/>
            <a:ext cx="1285875" cy="210741"/>
          </a:xfrm>
          <a:prstGeom prst="rect">
            <a:avLst/>
          </a:prstGeom>
          <a:noFill/>
          <a:ln/>
        </p:spPr>
        <p:txBody>
          <a:bodyPr wrap="none" lIns="0" tIns="0" rIns="0" bIns="0" rtlCol="0" anchor="t">
            <a:spAutoFit/>
          </a:bodyPr>
          <a:lstStyle/>
          <a:p>
            <a:pPr algn="ctr" indent="0" marL="0">
              <a:buNone/>
            </a:pPr>
            <a:r>
              <a:rPr lang="en-US" sz="750" dirty="0">
                <a:solidFill>
                  <a:srgbClr val="64748B"/>
                </a:solidFill>
                <a:latin typeface="Noto Sans Arabic" pitchFamily="34" charset="0"/>
                <a:ea typeface="Noto Sans Arabic" pitchFamily="34" charset="-122"/>
                <a:cs typeface="Noto Sans Arabic" pitchFamily="34" charset="-120"/>
              </a:rPr>
              <a:t>01</a:t>
            </a:r>
            <a:endParaRPr lang="en-US" sz="750" dirty="0"/>
          </a:p>
        </p:txBody>
      </p:sp>
      <p:sp>
        <p:nvSpPr>
          <p:cNvPr id="12" name="Text 9"/>
          <p:cNvSpPr/>
          <p:nvPr/>
        </p:nvSpPr>
        <p:spPr>
          <a:xfrm>
            <a:off x="7429500" y="1768078"/>
            <a:ext cx="1285875" cy="271463"/>
          </a:xfrm>
          <a:prstGeom prst="rect">
            <a:avLst/>
          </a:prstGeom>
          <a:noFill/>
          <a:ln/>
        </p:spPr>
        <p:txBody>
          <a:bodyPr wrap="non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السيناريو والفجوات</a:t>
            </a:r>
            <a:endParaRPr lang="en-US" sz="900" dirty="0"/>
          </a:p>
        </p:txBody>
      </p:sp>
      <p:sp>
        <p:nvSpPr>
          <p:cNvPr id="13" name="Shape 10"/>
          <p:cNvSpPr/>
          <p:nvPr/>
        </p:nvSpPr>
        <p:spPr>
          <a:xfrm>
            <a:off x="7193756" y="1773436"/>
            <a:ext cx="21431" cy="14288"/>
          </a:xfrm>
          <a:prstGeom prst="rect">
            <a:avLst/>
          </a:prstGeom>
          <a:solidFill>
            <a:srgbClr val="E2E8F0"/>
          </a:solidFill>
          <a:ln/>
        </p:spPr>
      </p:sp>
      <p:sp>
        <p:nvSpPr>
          <p:cNvPr id="14" name="Shape 11"/>
          <p:cNvSpPr/>
          <p:nvPr/>
        </p:nvSpPr>
        <p:spPr>
          <a:xfrm>
            <a:off x="5536406" y="1360884"/>
            <a:ext cx="1585913" cy="839391"/>
          </a:xfrm>
          <a:prstGeom prst="rect">
            <a:avLst/>
          </a:prstGeom>
          <a:solidFill>
            <a:srgbClr val="FFFFFF"/>
          </a:solidFill>
          <a:ln/>
        </p:spPr>
      </p:sp>
      <p:sp>
        <p:nvSpPr>
          <p:cNvPr id="15" name="Shape 12"/>
          <p:cNvSpPr/>
          <p:nvPr/>
        </p:nvSpPr>
        <p:spPr>
          <a:xfrm>
            <a:off x="5536406" y="1360884"/>
            <a:ext cx="1585913" cy="28575"/>
          </a:xfrm>
          <a:prstGeom prst="rect">
            <a:avLst/>
          </a:prstGeom>
          <a:solidFill>
            <a:srgbClr val="8B5CF6"/>
          </a:solidFill>
          <a:ln/>
        </p:spPr>
      </p:sp>
      <p:sp>
        <p:nvSpPr>
          <p:cNvPr id="16" name="Shape 13"/>
          <p:cNvSpPr/>
          <p:nvPr/>
        </p:nvSpPr>
        <p:spPr>
          <a:xfrm>
            <a:off x="7115175" y="1360884"/>
            <a:ext cx="7144" cy="839391"/>
          </a:xfrm>
          <a:prstGeom prst="rect">
            <a:avLst/>
          </a:prstGeom>
          <a:solidFill>
            <a:srgbClr val="E2E8F0"/>
          </a:solidFill>
          <a:ln/>
        </p:spPr>
      </p:sp>
      <p:sp>
        <p:nvSpPr>
          <p:cNvPr id="17" name="Shape 14"/>
          <p:cNvSpPr/>
          <p:nvPr/>
        </p:nvSpPr>
        <p:spPr>
          <a:xfrm>
            <a:off x="5536406" y="2193131"/>
            <a:ext cx="1585913" cy="7144"/>
          </a:xfrm>
          <a:prstGeom prst="rect">
            <a:avLst/>
          </a:prstGeom>
          <a:solidFill>
            <a:srgbClr val="E2E8F0"/>
          </a:solidFill>
          <a:ln/>
        </p:spPr>
      </p:sp>
      <p:sp>
        <p:nvSpPr>
          <p:cNvPr id="18" name="Shape 15"/>
          <p:cNvSpPr/>
          <p:nvPr/>
        </p:nvSpPr>
        <p:spPr>
          <a:xfrm>
            <a:off x="5536406" y="1360884"/>
            <a:ext cx="7144" cy="839391"/>
          </a:xfrm>
          <a:prstGeom prst="rect">
            <a:avLst/>
          </a:prstGeom>
          <a:solidFill>
            <a:srgbClr val="E2E8F0"/>
          </a:solidFill>
          <a:ln/>
        </p:spPr>
      </p:sp>
      <p:sp>
        <p:nvSpPr>
          <p:cNvPr id="19" name="Text 16"/>
          <p:cNvSpPr/>
          <p:nvPr/>
        </p:nvSpPr>
        <p:spPr>
          <a:xfrm>
            <a:off x="5689997" y="1521619"/>
            <a:ext cx="1285875" cy="210741"/>
          </a:xfrm>
          <a:prstGeom prst="rect">
            <a:avLst/>
          </a:prstGeom>
          <a:noFill/>
          <a:ln/>
        </p:spPr>
        <p:txBody>
          <a:bodyPr wrap="none" lIns="0" tIns="0" rIns="0" bIns="0" rtlCol="0" anchor="t">
            <a:spAutoFit/>
          </a:bodyPr>
          <a:lstStyle/>
          <a:p>
            <a:pPr algn="ctr" indent="0" marL="0">
              <a:buNone/>
            </a:pPr>
            <a:r>
              <a:rPr lang="en-US" sz="750" dirty="0">
                <a:solidFill>
                  <a:srgbClr val="64748B"/>
                </a:solidFill>
                <a:latin typeface="Noto Sans Arabic" pitchFamily="34" charset="0"/>
                <a:ea typeface="Noto Sans Arabic" pitchFamily="34" charset="-122"/>
                <a:cs typeface="Noto Sans Arabic" pitchFamily="34" charset="-120"/>
              </a:rPr>
              <a:t>02</a:t>
            </a:r>
            <a:endParaRPr lang="en-US" sz="750" dirty="0"/>
          </a:p>
        </p:txBody>
      </p:sp>
      <p:sp>
        <p:nvSpPr>
          <p:cNvPr id="20" name="Text 17"/>
          <p:cNvSpPr/>
          <p:nvPr/>
        </p:nvSpPr>
        <p:spPr>
          <a:xfrm>
            <a:off x="5689997" y="1768078"/>
            <a:ext cx="1285875" cy="271463"/>
          </a:xfrm>
          <a:prstGeom prst="rect">
            <a:avLst/>
          </a:prstGeom>
          <a:noFill/>
          <a:ln/>
        </p:spPr>
        <p:txBody>
          <a:bodyPr wrap="non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الأصول والمخاطر</a:t>
            </a:r>
            <a:endParaRPr lang="en-US" sz="900" dirty="0"/>
          </a:p>
        </p:txBody>
      </p:sp>
      <p:sp>
        <p:nvSpPr>
          <p:cNvPr id="21" name="Shape 18"/>
          <p:cNvSpPr/>
          <p:nvPr/>
        </p:nvSpPr>
        <p:spPr>
          <a:xfrm>
            <a:off x="5450681" y="1773436"/>
            <a:ext cx="25003" cy="14288"/>
          </a:xfrm>
          <a:prstGeom prst="rect">
            <a:avLst/>
          </a:prstGeom>
          <a:solidFill>
            <a:srgbClr val="E2E8F0"/>
          </a:solidFill>
          <a:ln/>
        </p:spPr>
      </p:sp>
      <p:sp>
        <p:nvSpPr>
          <p:cNvPr id="22" name="Shape 19"/>
          <p:cNvSpPr/>
          <p:nvPr/>
        </p:nvSpPr>
        <p:spPr>
          <a:xfrm>
            <a:off x="3793331" y="1360884"/>
            <a:ext cx="1585913" cy="839391"/>
          </a:xfrm>
          <a:prstGeom prst="rect">
            <a:avLst/>
          </a:prstGeom>
          <a:solidFill>
            <a:srgbClr val="FFFFFF"/>
          </a:solidFill>
          <a:ln/>
        </p:spPr>
      </p:sp>
      <p:sp>
        <p:nvSpPr>
          <p:cNvPr id="23" name="Shape 20"/>
          <p:cNvSpPr/>
          <p:nvPr/>
        </p:nvSpPr>
        <p:spPr>
          <a:xfrm>
            <a:off x="3793331" y="1360884"/>
            <a:ext cx="1585913" cy="28575"/>
          </a:xfrm>
          <a:prstGeom prst="rect">
            <a:avLst/>
          </a:prstGeom>
          <a:solidFill>
            <a:srgbClr val="8B5CF6"/>
          </a:solidFill>
          <a:ln/>
        </p:spPr>
      </p:sp>
      <p:sp>
        <p:nvSpPr>
          <p:cNvPr id="24" name="Shape 21"/>
          <p:cNvSpPr/>
          <p:nvPr/>
        </p:nvSpPr>
        <p:spPr>
          <a:xfrm>
            <a:off x="5372100" y="1360884"/>
            <a:ext cx="7144" cy="839391"/>
          </a:xfrm>
          <a:prstGeom prst="rect">
            <a:avLst/>
          </a:prstGeom>
          <a:solidFill>
            <a:srgbClr val="E2E8F0"/>
          </a:solidFill>
          <a:ln/>
        </p:spPr>
      </p:sp>
      <p:sp>
        <p:nvSpPr>
          <p:cNvPr id="25" name="Shape 22"/>
          <p:cNvSpPr/>
          <p:nvPr/>
        </p:nvSpPr>
        <p:spPr>
          <a:xfrm>
            <a:off x="3793331" y="2193131"/>
            <a:ext cx="1585913" cy="7144"/>
          </a:xfrm>
          <a:prstGeom prst="rect">
            <a:avLst/>
          </a:prstGeom>
          <a:solidFill>
            <a:srgbClr val="E2E8F0"/>
          </a:solidFill>
          <a:ln/>
        </p:spPr>
      </p:sp>
      <p:sp>
        <p:nvSpPr>
          <p:cNvPr id="26" name="Shape 23"/>
          <p:cNvSpPr/>
          <p:nvPr/>
        </p:nvSpPr>
        <p:spPr>
          <a:xfrm>
            <a:off x="3793331" y="1360884"/>
            <a:ext cx="7144" cy="839391"/>
          </a:xfrm>
          <a:prstGeom prst="rect">
            <a:avLst/>
          </a:prstGeom>
          <a:solidFill>
            <a:srgbClr val="E2E8F0"/>
          </a:solidFill>
          <a:ln/>
        </p:spPr>
      </p:sp>
      <p:sp>
        <p:nvSpPr>
          <p:cNvPr id="27" name="Text 24"/>
          <p:cNvSpPr/>
          <p:nvPr/>
        </p:nvSpPr>
        <p:spPr>
          <a:xfrm>
            <a:off x="3943350" y="1521619"/>
            <a:ext cx="1285875" cy="210741"/>
          </a:xfrm>
          <a:prstGeom prst="rect">
            <a:avLst/>
          </a:prstGeom>
          <a:noFill/>
          <a:ln/>
        </p:spPr>
        <p:txBody>
          <a:bodyPr wrap="none" lIns="0" tIns="0" rIns="0" bIns="0" rtlCol="0" anchor="t">
            <a:spAutoFit/>
          </a:bodyPr>
          <a:lstStyle/>
          <a:p>
            <a:pPr algn="ctr" indent="0" marL="0">
              <a:buNone/>
            </a:pPr>
            <a:r>
              <a:rPr lang="en-US" sz="750" dirty="0">
                <a:solidFill>
                  <a:srgbClr val="64748B"/>
                </a:solidFill>
                <a:latin typeface="Noto Sans Arabic" pitchFamily="34" charset="0"/>
                <a:ea typeface="Noto Sans Arabic" pitchFamily="34" charset="-122"/>
                <a:cs typeface="Noto Sans Arabic" pitchFamily="34" charset="-120"/>
              </a:rPr>
              <a:t>03</a:t>
            </a:r>
            <a:endParaRPr lang="en-US" sz="750" dirty="0"/>
          </a:p>
        </p:txBody>
      </p:sp>
      <p:sp>
        <p:nvSpPr>
          <p:cNvPr id="28" name="Text 25"/>
          <p:cNvSpPr/>
          <p:nvPr/>
        </p:nvSpPr>
        <p:spPr>
          <a:xfrm>
            <a:off x="3943350" y="1768078"/>
            <a:ext cx="1285875" cy="271463"/>
          </a:xfrm>
          <a:prstGeom prst="rect">
            <a:avLst/>
          </a:prstGeom>
          <a:noFill/>
          <a:ln/>
        </p:spPr>
        <p:txBody>
          <a:bodyPr wrap="non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الضوابط والأهداف</a:t>
            </a:r>
            <a:endParaRPr lang="en-US" sz="900" dirty="0"/>
          </a:p>
        </p:txBody>
      </p:sp>
      <p:sp>
        <p:nvSpPr>
          <p:cNvPr id="29" name="Shape 26"/>
          <p:cNvSpPr/>
          <p:nvPr/>
        </p:nvSpPr>
        <p:spPr>
          <a:xfrm>
            <a:off x="3700463" y="1773436"/>
            <a:ext cx="28575" cy="14288"/>
          </a:xfrm>
          <a:prstGeom prst="rect">
            <a:avLst/>
          </a:prstGeom>
          <a:solidFill>
            <a:srgbClr val="E2E8F0"/>
          </a:solidFill>
          <a:ln/>
        </p:spPr>
      </p:sp>
      <p:sp>
        <p:nvSpPr>
          <p:cNvPr id="30" name="Shape 27"/>
          <p:cNvSpPr/>
          <p:nvPr/>
        </p:nvSpPr>
        <p:spPr>
          <a:xfrm>
            <a:off x="2043113" y="1360884"/>
            <a:ext cx="1585913" cy="839391"/>
          </a:xfrm>
          <a:prstGeom prst="rect">
            <a:avLst/>
          </a:prstGeom>
          <a:solidFill>
            <a:srgbClr val="FFFFFF"/>
          </a:solidFill>
          <a:ln/>
        </p:spPr>
      </p:sp>
      <p:sp>
        <p:nvSpPr>
          <p:cNvPr id="31" name="Shape 28"/>
          <p:cNvSpPr/>
          <p:nvPr/>
        </p:nvSpPr>
        <p:spPr>
          <a:xfrm>
            <a:off x="2043113" y="1360884"/>
            <a:ext cx="1585913" cy="28575"/>
          </a:xfrm>
          <a:prstGeom prst="rect">
            <a:avLst/>
          </a:prstGeom>
          <a:solidFill>
            <a:srgbClr val="8B5CF6"/>
          </a:solidFill>
          <a:ln/>
        </p:spPr>
      </p:sp>
      <p:sp>
        <p:nvSpPr>
          <p:cNvPr id="32" name="Shape 29"/>
          <p:cNvSpPr/>
          <p:nvPr/>
        </p:nvSpPr>
        <p:spPr>
          <a:xfrm>
            <a:off x="3621881" y="1360884"/>
            <a:ext cx="7144" cy="839391"/>
          </a:xfrm>
          <a:prstGeom prst="rect">
            <a:avLst/>
          </a:prstGeom>
          <a:solidFill>
            <a:srgbClr val="E2E8F0"/>
          </a:solidFill>
          <a:ln/>
        </p:spPr>
      </p:sp>
      <p:sp>
        <p:nvSpPr>
          <p:cNvPr id="33" name="Shape 30"/>
          <p:cNvSpPr/>
          <p:nvPr/>
        </p:nvSpPr>
        <p:spPr>
          <a:xfrm>
            <a:off x="2043113" y="2193131"/>
            <a:ext cx="1585913" cy="7144"/>
          </a:xfrm>
          <a:prstGeom prst="rect">
            <a:avLst/>
          </a:prstGeom>
          <a:solidFill>
            <a:srgbClr val="E2E8F0"/>
          </a:solidFill>
          <a:ln/>
        </p:spPr>
      </p:sp>
      <p:sp>
        <p:nvSpPr>
          <p:cNvPr id="34" name="Shape 31"/>
          <p:cNvSpPr/>
          <p:nvPr/>
        </p:nvSpPr>
        <p:spPr>
          <a:xfrm>
            <a:off x="2043113" y="1360884"/>
            <a:ext cx="7144" cy="839391"/>
          </a:xfrm>
          <a:prstGeom prst="rect">
            <a:avLst/>
          </a:prstGeom>
          <a:solidFill>
            <a:srgbClr val="E2E8F0"/>
          </a:solidFill>
          <a:ln/>
        </p:spPr>
      </p:sp>
      <p:sp>
        <p:nvSpPr>
          <p:cNvPr id="35" name="Text 32"/>
          <p:cNvSpPr/>
          <p:nvPr/>
        </p:nvSpPr>
        <p:spPr>
          <a:xfrm>
            <a:off x="2189559" y="1521619"/>
            <a:ext cx="1285875" cy="210741"/>
          </a:xfrm>
          <a:prstGeom prst="rect">
            <a:avLst/>
          </a:prstGeom>
          <a:noFill/>
          <a:ln/>
        </p:spPr>
        <p:txBody>
          <a:bodyPr wrap="none" lIns="0" tIns="0" rIns="0" bIns="0" rtlCol="0" anchor="t">
            <a:spAutoFit/>
          </a:bodyPr>
          <a:lstStyle/>
          <a:p>
            <a:pPr algn="ctr" indent="0" marL="0">
              <a:buNone/>
            </a:pPr>
            <a:r>
              <a:rPr lang="en-US" sz="750" dirty="0">
                <a:solidFill>
                  <a:srgbClr val="64748B"/>
                </a:solidFill>
                <a:latin typeface="Noto Sans Arabic" pitchFamily="34" charset="0"/>
                <a:ea typeface="Noto Sans Arabic" pitchFamily="34" charset="-122"/>
                <a:cs typeface="Noto Sans Arabic" pitchFamily="34" charset="-120"/>
              </a:rPr>
              <a:t>04</a:t>
            </a:r>
            <a:endParaRPr lang="en-US" sz="750" dirty="0"/>
          </a:p>
        </p:txBody>
      </p:sp>
      <p:sp>
        <p:nvSpPr>
          <p:cNvPr id="36" name="Text 33"/>
          <p:cNvSpPr/>
          <p:nvPr/>
        </p:nvSpPr>
        <p:spPr>
          <a:xfrm>
            <a:off x="2189559" y="1768078"/>
            <a:ext cx="1285875" cy="271463"/>
          </a:xfrm>
          <a:prstGeom prst="rect">
            <a:avLst/>
          </a:prstGeom>
          <a:noFill/>
          <a:ln/>
        </p:spPr>
        <p:txBody>
          <a:bodyPr wrap="non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التشغيل والقياس</a:t>
            </a:r>
            <a:endParaRPr lang="en-US" sz="900" dirty="0"/>
          </a:p>
        </p:txBody>
      </p:sp>
      <p:sp>
        <p:nvSpPr>
          <p:cNvPr id="37" name="Shape 34"/>
          <p:cNvSpPr/>
          <p:nvPr/>
        </p:nvSpPr>
        <p:spPr>
          <a:xfrm>
            <a:off x="1943100" y="1773436"/>
            <a:ext cx="32147" cy="14288"/>
          </a:xfrm>
          <a:prstGeom prst="rect">
            <a:avLst/>
          </a:prstGeom>
          <a:solidFill>
            <a:srgbClr val="E2E8F0"/>
          </a:solidFill>
          <a:ln/>
        </p:spPr>
      </p:sp>
      <p:sp>
        <p:nvSpPr>
          <p:cNvPr id="38" name="Shape 35"/>
          <p:cNvSpPr/>
          <p:nvPr/>
        </p:nvSpPr>
        <p:spPr>
          <a:xfrm>
            <a:off x="285750" y="1360884"/>
            <a:ext cx="1585913" cy="839391"/>
          </a:xfrm>
          <a:prstGeom prst="rect">
            <a:avLst/>
          </a:prstGeom>
          <a:solidFill>
            <a:srgbClr val="FFFFFF"/>
          </a:solidFill>
          <a:ln/>
        </p:spPr>
      </p:sp>
      <p:sp>
        <p:nvSpPr>
          <p:cNvPr id="39" name="Shape 36"/>
          <p:cNvSpPr/>
          <p:nvPr/>
        </p:nvSpPr>
        <p:spPr>
          <a:xfrm>
            <a:off x="285750" y="1360884"/>
            <a:ext cx="1585913" cy="28575"/>
          </a:xfrm>
          <a:prstGeom prst="rect">
            <a:avLst/>
          </a:prstGeom>
          <a:solidFill>
            <a:srgbClr val="8B5CF6"/>
          </a:solidFill>
          <a:ln/>
        </p:spPr>
      </p:sp>
      <p:sp>
        <p:nvSpPr>
          <p:cNvPr id="40" name="Shape 37"/>
          <p:cNvSpPr/>
          <p:nvPr/>
        </p:nvSpPr>
        <p:spPr>
          <a:xfrm>
            <a:off x="1864519" y="1360884"/>
            <a:ext cx="7144" cy="839391"/>
          </a:xfrm>
          <a:prstGeom prst="rect">
            <a:avLst/>
          </a:prstGeom>
          <a:solidFill>
            <a:srgbClr val="E2E8F0"/>
          </a:solidFill>
          <a:ln/>
        </p:spPr>
      </p:sp>
      <p:sp>
        <p:nvSpPr>
          <p:cNvPr id="41" name="Shape 38"/>
          <p:cNvSpPr/>
          <p:nvPr/>
        </p:nvSpPr>
        <p:spPr>
          <a:xfrm>
            <a:off x="285750" y="2193131"/>
            <a:ext cx="1585913" cy="7144"/>
          </a:xfrm>
          <a:prstGeom prst="rect">
            <a:avLst/>
          </a:prstGeom>
          <a:solidFill>
            <a:srgbClr val="E2E8F0"/>
          </a:solidFill>
          <a:ln/>
        </p:spPr>
      </p:sp>
      <p:sp>
        <p:nvSpPr>
          <p:cNvPr id="42" name="Shape 39"/>
          <p:cNvSpPr/>
          <p:nvPr/>
        </p:nvSpPr>
        <p:spPr>
          <a:xfrm>
            <a:off x="285750" y="1360884"/>
            <a:ext cx="7144" cy="839391"/>
          </a:xfrm>
          <a:prstGeom prst="rect">
            <a:avLst/>
          </a:prstGeom>
          <a:solidFill>
            <a:srgbClr val="E2E8F0"/>
          </a:solidFill>
          <a:ln/>
        </p:spPr>
      </p:sp>
      <p:sp>
        <p:nvSpPr>
          <p:cNvPr id="43" name="Text 40"/>
          <p:cNvSpPr/>
          <p:nvPr/>
        </p:nvSpPr>
        <p:spPr>
          <a:xfrm>
            <a:off x="428625" y="1503759"/>
            <a:ext cx="1285875" cy="210741"/>
          </a:xfrm>
          <a:prstGeom prst="rect">
            <a:avLst/>
          </a:prstGeom>
          <a:noFill/>
          <a:ln/>
        </p:spPr>
        <p:txBody>
          <a:bodyPr wrap="none" lIns="0" tIns="0" rIns="0" bIns="0" rtlCol="0" anchor="t">
            <a:spAutoFit/>
          </a:bodyPr>
          <a:lstStyle/>
          <a:p>
            <a:pPr algn="ctr" indent="0" marL="0">
              <a:buNone/>
            </a:pPr>
            <a:r>
              <a:rPr lang="en-US" sz="750" dirty="0">
                <a:solidFill>
                  <a:srgbClr val="64748B"/>
                </a:solidFill>
                <a:latin typeface="Noto Sans Arabic" pitchFamily="34" charset="0"/>
                <a:ea typeface="Noto Sans Arabic" pitchFamily="34" charset="-122"/>
                <a:cs typeface="Noto Sans Arabic" pitchFamily="34" charset="-120"/>
              </a:rPr>
              <a:t>05</a:t>
            </a:r>
            <a:endParaRPr lang="en-US" sz="750" dirty="0"/>
          </a:p>
        </p:txBody>
      </p:sp>
      <p:sp>
        <p:nvSpPr>
          <p:cNvPr id="44" name="Text 41"/>
          <p:cNvSpPr/>
          <p:nvPr/>
        </p:nvSpPr>
        <p:spPr>
          <a:xfrm>
            <a:off x="428625" y="1750219"/>
            <a:ext cx="1285875" cy="271463"/>
          </a:xfrm>
          <a:prstGeom prst="rect">
            <a:avLst/>
          </a:prstGeom>
          <a:noFill/>
          <a:ln/>
        </p:spPr>
        <p:txBody>
          <a:bodyPr wrap="non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التدقيق والتحسين</a:t>
            </a:r>
            <a:endParaRPr lang="en-US" sz="900" dirty="0"/>
          </a:p>
        </p:txBody>
      </p:sp>
      <p:sp>
        <p:nvSpPr>
          <p:cNvPr id="45" name="Shape 42"/>
          <p:cNvSpPr/>
          <p:nvPr/>
        </p:nvSpPr>
        <p:spPr>
          <a:xfrm>
            <a:off x="285750" y="2593181"/>
            <a:ext cx="8572500" cy="697185"/>
          </a:xfrm>
          <a:prstGeom prst="rect">
            <a:avLst/>
          </a:prstGeom>
          <a:solidFill>
            <a:srgbClr val="F8FAFC"/>
          </a:solidFill>
          <a:ln/>
        </p:spPr>
      </p:sp>
      <p:sp>
        <p:nvSpPr>
          <p:cNvPr id="46" name="Text 43"/>
          <p:cNvSpPr/>
          <p:nvPr/>
        </p:nvSpPr>
        <p:spPr>
          <a:xfrm>
            <a:off x="285750" y="2593181"/>
            <a:ext cx="8572500" cy="697185"/>
          </a:xfrm>
          <a:prstGeom prst="rect">
            <a:avLst/>
          </a:prstGeom>
          <a:noFill/>
          <a:ln/>
        </p:spPr>
        <p:txBody>
          <a:bodyPr wrap="square" lIns="170053" tIns="170053" rIns="170053" bIns="170053" rtlCol="0" anchor="t">
            <a:spAutoFit/>
          </a:bodyPr>
          <a:lstStyle/>
          <a:p>
            <a:pPr algn="l" indent="0" marL="0">
              <a:lnSpc>
                <a:spcPct val="128000"/>
              </a:lnSpc>
              <a:buNone/>
            </a:pPr>
            <a:r>
              <a:rPr lang="en-US" sz="950" dirty="0">
                <a:solidFill>
                  <a:srgbClr val="0F172A"/>
                </a:solidFill>
                <a:latin typeface="Noto Sans Arabic" pitchFamily="34" charset="0"/>
                <a:ea typeface="Noto Sans Arabic" pitchFamily="34" charset="-122"/>
                <a:cs typeface="Noto Sans Arabic" pitchFamily="34" charset="-120"/>
              </a:rPr>
              <a:t>انتقل المشروع من تحليل واقع بنك الآفاق الرقمية وتحديد الفجوات الأمنية، إلى بناء سجل أصول شامل وتقييم مخاطر منهجي، ثم اختيار ضوابط ISO 27001 المناسبة وصياغة أهداف قابلة للقياس، وصولاً إلى إجراءات تشغيلية وأدلة اختبار ومحاكاة تدقيق خارجي لضمان الجاهزية الكاملة.</a:t>
            </a:r>
            <a:endParaRPr lang="en-US" sz="950" dirty="0"/>
          </a:p>
        </p:txBody>
      </p:sp>
      <p:sp>
        <p:nvSpPr>
          <p:cNvPr id="47" name="Text 44"/>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48" name="Text 45"/>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517922"/>
          </a:xfrm>
          <a:prstGeom prst="rect">
            <a:avLst/>
          </a:prstGeom>
          <a:solidFill>
            <a:srgbClr val="000000">
              <a:alpha val="0"/>
            </a:srgbClr>
          </a:solidFill>
          <a:ln/>
        </p:spPr>
      </p:sp>
      <p:sp>
        <p:nvSpPr>
          <p:cNvPr id="4" name="Shape 1"/>
          <p:cNvSpPr/>
          <p:nvPr/>
        </p:nvSpPr>
        <p:spPr>
          <a:xfrm>
            <a:off x="285750" y="789384"/>
            <a:ext cx="8572500" cy="14288"/>
          </a:xfrm>
          <a:prstGeom prst="rect">
            <a:avLst/>
          </a:prstGeom>
          <a:solidFill>
            <a:srgbClr val="8B5CF6"/>
          </a:solidFill>
          <a:ln/>
        </p:spPr>
      </p:sp>
      <p:sp>
        <p:nvSpPr>
          <p:cNvPr id="5" name="Text 2"/>
          <p:cNvSpPr/>
          <p:nvPr/>
        </p:nvSpPr>
        <p:spPr>
          <a:xfrm>
            <a:off x="285750" y="285750"/>
            <a:ext cx="8572500" cy="517922"/>
          </a:xfrm>
          <a:prstGeom prst="rect">
            <a:avLst/>
          </a:prstGeom>
          <a:noFill/>
          <a:ln/>
        </p:spPr>
        <p:txBody>
          <a:bodyPr wrap="square" lIns="0" tIns="0" rIns="0" bIns="85090" rtlCol="0" anchor="t">
            <a:spAutoFit/>
          </a:bodyPr>
          <a:lstStyle/>
          <a:p>
            <a:pPr algn="l" indent="0" marL="0">
              <a:buNone/>
            </a:pPr>
            <a:r>
              <a:rPr lang="en-US" sz="1600" b="1" dirty="0">
                <a:solidFill>
                  <a:srgbClr val="0F172A"/>
                </a:solidFill>
                <a:latin typeface="Noto Kufi Arabic Bold" pitchFamily="34" charset="0"/>
                <a:ea typeface="Noto Kufi Arabic Bold" pitchFamily="34" charset="-122"/>
                <a:cs typeface="Noto Kufi Arabic Bold" pitchFamily="34" charset="-120"/>
              </a:rPr>
              <a:t>نطاق وسياق نظام إدارة أمن المعلومات</a:t>
            </a:r>
            <a:endParaRPr lang="en-US" sz="1600" dirty="0"/>
          </a:p>
        </p:txBody>
      </p:sp>
      <p:sp>
        <p:nvSpPr>
          <p:cNvPr id="6" name="Shape 3"/>
          <p:cNvSpPr/>
          <p:nvPr/>
        </p:nvSpPr>
        <p:spPr>
          <a:xfrm>
            <a:off x="4643438" y="1075134"/>
            <a:ext cx="4214813" cy="1714500"/>
          </a:xfrm>
          <a:prstGeom prst="rect">
            <a:avLst/>
          </a:prstGeom>
          <a:solidFill>
            <a:srgbClr val="FFFFFF"/>
          </a:solidFill>
          <a:ln/>
        </p:spPr>
      </p:sp>
      <p:sp>
        <p:nvSpPr>
          <p:cNvPr id="7" name="Shape 4"/>
          <p:cNvSpPr/>
          <p:nvPr/>
        </p:nvSpPr>
        <p:spPr>
          <a:xfrm>
            <a:off x="4643438" y="1075134"/>
            <a:ext cx="4214813" cy="28575"/>
          </a:xfrm>
          <a:prstGeom prst="rect">
            <a:avLst/>
          </a:prstGeom>
          <a:solidFill>
            <a:srgbClr val="8B5CF6"/>
          </a:solidFill>
          <a:ln/>
        </p:spPr>
      </p:sp>
      <p:sp>
        <p:nvSpPr>
          <p:cNvPr id="8" name="Shape 5"/>
          <p:cNvSpPr/>
          <p:nvPr/>
        </p:nvSpPr>
        <p:spPr>
          <a:xfrm>
            <a:off x="8851106" y="1075134"/>
            <a:ext cx="7144" cy="1714500"/>
          </a:xfrm>
          <a:prstGeom prst="rect">
            <a:avLst/>
          </a:prstGeom>
          <a:solidFill>
            <a:srgbClr val="E2E8F0"/>
          </a:solidFill>
          <a:ln/>
        </p:spPr>
      </p:sp>
      <p:sp>
        <p:nvSpPr>
          <p:cNvPr id="9" name="Shape 6"/>
          <p:cNvSpPr/>
          <p:nvPr/>
        </p:nvSpPr>
        <p:spPr>
          <a:xfrm>
            <a:off x="4643438" y="2782491"/>
            <a:ext cx="4214813" cy="7144"/>
          </a:xfrm>
          <a:prstGeom prst="rect">
            <a:avLst/>
          </a:prstGeom>
          <a:solidFill>
            <a:srgbClr val="E2E8F0"/>
          </a:solidFill>
          <a:ln/>
        </p:spPr>
      </p:sp>
      <p:sp>
        <p:nvSpPr>
          <p:cNvPr id="10" name="Shape 7"/>
          <p:cNvSpPr/>
          <p:nvPr/>
        </p:nvSpPr>
        <p:spPr>
          <a:xfrm>
            <a:off x="4643438" y="1075134"/>
            <a:ext cx="7144" cy="1714500"/>
          </a:xfrm>
          <a:prstGeom prst="rect">
            <a:avLst/>
          </a:prstGeom>
          <a:solidFill>
            <a:srgbClr val="E2E8F0"/>
          </a:solidFill>
          <a:ln/>
        </p:spPr>
      </p:sp>
      <p:sp>
        <p:nvSpPr>
          <p:cNvPr id="11" name="Text 8"/>
          <p:cNvSpPr/>
          <p:nvPr/>
        </p:nvSpPr>
        <p:spPr>
          <a:xfrm>
            <a:off x="4786313" y="1218009"/>
            <a:ext cx="3929063" cy="303609"/>
          </a:xfrm>
          <a:prstGeom prst="rect">
            <a:avLst/>
          </a:prstGeom>
          <a:noFill/>
          <a:ln/>
        </p:spPr>
        <p:txBody>
          <a:bodyPr wrap="square" lIns="0" tIns="0" rIns="0" bIns="0" rtlCol="0" anchor="t">
            <a:spAutoFit/>
          </a:bodyPr>
          <a:lstStyle/>
          <a:p>
            <a:pPr algn="l" indent="0" marL="0">
              <a:buNone/>
            </a:pPr>
            <a:r>
              <a:rPr lang="en-US" sz="1000" b="1" dirty="0">
                <a:solidFill>
                  <a:srgbClr val="8B5CF6"/>
                </a:solidFill>
                <a:latin typeface="Noto Sans Arabic Bold" pitchFamily="34" charset="0"/>
                <a:ea typeface="Noto Sans Arabic Bold" pitchFamily="34" charset="-122"/>
                <a:cs typeface="Noto Sans Arabic Bold" pitchFamily="34" charset="-120"/>
              </a:rPr>
              <a:t>الخدمات المشمولة</a:t>
            </a:r>
            <a:endParaRPr lang="en-US" sz="1000" dirty="0"/>
          </a:p>
        </p:txBody>
      </p:sp>
      <p:sp>
        <p:nvSpPr>
          <p:cNvPr id="12" name="Text 9"/>
          <p:cNvSpPr/>
          <p:nvPr/>
        </p:nvSpPr>
        <p:spPr>
          <a:xfrm>
            <a:off x="4786313" y="1628775"/>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تطبيق آفاق بلس والخدمات المصرفية الرقمية.</a:t>
            </a:r>
            <a:endParaRPr lang="en-US" sz="850" dirty="0"/>
          </a:p>
        </p:txBody>
      </p:sp>
      <p:sp>
        <p:nvSpPr>
          <p:cNvPr id="13" name="Text 10"/>
          <p:cNvSpPr/>
          <p:nvPr/>
        </p:nvSpPr>
        <p:spPr>
          <a:xfrm>
            <a:off x="4786313" y="1868760"/>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التحويلات الدولية ونظام مكافحة الاحتيال.</a:t>
            </a:r>
            <a:endParaRPr lang="en-US" sz="850" dirty="0"/>
          </a:p>
        </p:txBody>
      </p:sp>
      <p:sp>
        <p:nvSpPr>
          <p:cNvPr id="14" name="Text 11"/>
          <p:cNvSpPr/>
          <p:nvPr/>
        </p:nvSpPr>
        <p:spPr>
          <a:xfrm>
            <a:off x="4786313" y="2108746"/>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إدارة حسابات العملاء والمعاملات المالية.</a:t>
            </a:r>
            <a:endParaRPr lang="en-US" sz="850" dirty="0"/>
          </a:p>
        </p:txBody>
      </p:sp>
      <p:sp>
        <p:nvSpPr>
          <p:cNvPr id="15" name="Shape 12"/>
          <p:cNvSpPr/>
          <p:nvPr/>
        </p:nvSpPr>
        <p:spPr>
          <a:xfrm>
            <a:off x="285750" y="1075134"/>
            <a:ext cx="4214813" cy="1714500"/>
          </a:xfrm>
          <a:prstGeom prst="rect">
            <a:avLst/>
          </a:prstGeom>
          <a:solidFill>
            <a:srgbClr val="FFFFFF"/>
          </a:solidFill>
          <a:ln/>
        </p:spPr>
      </p:sp>
      <p:sp>
        <p:nvSpPr>
          <p:cNvPr id="16" name="Shape 13"/>
          <p:cNvSpPr/>
          <p:nvPr/>
        </p:nvSpPr>
        <p:spPr>
          <a:xfrm>
            <a:off x="285750" y="1075134"/>
            <a:ext cx="4214813" cy="28575"/>
          </a:xfrm>
          <a:prstGeom prst="rect">
            <a:avLst/>
          </a:prstGeom>
          <a:solidFill>
            <a:srgbClr val="8B5CF6"/>
          </a:solidFill>
          <a:ln/>
        </p:spPr>
      </p:sp>
      <p:sp>
        <p:nvSpPr>
          <p:cNvPr id="17" name="Shape 14"/>
          <p:cNvSpPr/>
          <p:nvPr/>
        </p:nvSpPr>
        <p:spPr>
          <a:xfrm>
            <a:off x="4493419" y="1075134"/>
            <a:ext cx="7144" cy="1714500"/>
          </a:xfrm>
          <a:prstGeom prst="rect">
            <a:avLst/>
          </a:prstGeom>
          <a:solidFill>
            <a:srgbClr val="E2E8F0"/>
          </a:solidFill>
          <a:ln/>
        </p:spPr>
      </p:sp>
      <p:sp>
        <p:nvSpPr>
          <p:cNvPr id="18" name="Shape 15"/>
          <p:cNvSpPr/>
          <p:nvPr/>
        </p:nvSpPr>
        <p:spPr>
          <a:xfrm>
            <a:off x="285750" y="2782491"/>
            <a:ext cx="4214813" cy="7144"/>
          </a:xfrm>
          <a:prstGeom prst="rect">
            <a:avLst/>
          </a:prstGeom>
          <a:solidFill>
            <a:srgbClr val="E2E8F0"/>
          </a:solidFill>
          <a:ln/>
        </p:spPr>
      </p:sp>
      <p:sp>
        <p:nvSpPr>
          <p:cNvPr id="19" name="Shape 16"/>
          <p:cNvSpPr/>
          <p:nvPr/>
        </p:nvSpPr>
        <p:spPr>
          <a:xfrm>
            <a:off x="285750" y="1075134"/>
            <a:ext cx="7144" cy="1714500"/>
          </a:xfrm>
          <a:prstGeom prst="rect">
            <a:avLst/>
          </a:prstGeom>
          <a:solidFill>
            <a:srgbClr val="E2E8F0"/>
          </a:solidFill>
          <a:ln/>
        </p:spPr>
      </p:sp>
      <p:sp>
        <p:nvSpPr>
          <p:cNvPr id="20" name="Text 17"/>
          <p:cNvSpPr/>
          <p:nvPr/>
        </p:nvSpPr>
        <p:spPr>
          <a:xfrm>
            <a:off x="428625" y="1218009"/>
            <a:ext cx="3929063" cy="303609"/>
          </a:xfrm>
          <a:prstGeom prst="rect">
            <a:avLst/>
          </a:prstGeom>
          <a:noFill/>
          <a:ln/>
        </p:spPr>
        <p:txBody>
          <a:bodyPr wrap="square" lIns="0" tIns="0" rIns="0" bIns="0" rtlCol="0" anchor="t">
            <a:spAutoFit/>
          </a:bodyPr>
          <a:lstStyle/>
          <a:p>
            <a:pPr algn="l" indent="0" marL="0">
              <a:buNone/>
            </a:pPr>
            <a:r>
              <a:rPr lang="en-US" sz="1000" b="1" dirty="0">
                <a:solidFill>
                  <a:srgbClr val="8B5CF6"/>
                </a:solidFill>
                <a:latin typeface="Noto Sans Arabic Bold" pitchFamily="34" charset="0"/>
                <a:ea typeface="Noto Sans Arabic Bold" pitchFamily="34" charset="-122"/>
                <a:cs typeface="Noto Sans Arabic Bold" pitchFamily="34" charset="-120"/>
              </a:rPr>
              <a:t>المواقع الجغرافية</a:t>
            </a:r>
            <a:endParaRPr lang="en-US" sz="1000" dirty="0"/>
          </a:p>
        </p:txBody>
      </p:sp>
      <p:sp>
        <p:nvSpPr>
          <p:cNvPr id="21" name="Text 18"/>
          <p:cNvSpPr/>
          <p:nvPr/>
        </p:nvSpPr>
        <p:spPr>
          <a:xfrm>
            <a:off x="428625" y="1628775"/>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المقر الرئيسي ومركز البيانات في الرياض.</a:t>
            </a:r>
            <a:endParaRPr lang="en-US" sz="850" dirty="0"/>
          </a:p>
        </p:txBody>
      </p:sp>
      <p:sp>
        <p:nvSpPr>
          <p:cNvPr id="22" name="Text 19"/>
          <p:cNvSpPr/>
          <p:nvPr/>
        </p:nvSpPr>
        <p:spPr>
          <a:xfrm>
            <a:off x="428625" y="1868760"/>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مركز التعافي من الكوارث في جدة.</a:t>
            </a:r>
            <a:endParaRPr lang="en-US" sz="850" dirty="0"/>
          </a:p>
        </p:txBody>
      </p:sp>
      <p:sp>
        <p:nvSpPr>
          <p:cNvPr id="23" name="Text 20"/>
          <p:cNvSpPr/>
          <p:nvPr/>
        </p:nvSpPr>
        <p:spPr>
          <a:xfrm>
            <a:off x="428625" y="2108746"/>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شبكة الفروع وأجهزة الصراف الآلي.</a:t>
            </a:r>
            <a:endParaRPr lang="en-US" sz="850" dirty="0"/>
          </a:p>
        </p:txBody>
      </p:sp>
      <p:sp>
        <p:nvSpPr>
          <p:cNvPr id="24" name="Shape 21"/>
          <p:cNvSpPr/>
          <p:nvPr/>
        </p:nvSpPr>
        <p:spPr>
          <a:xfrm>
            <a:off x="4643438" y="2932509"/>
            <a:ext cx="4214813" cy="1714500"/>
          </a:xfrm>
          <a:prstGeom prst="rect">
            <a:avLst/>
          </a:prstGeom>
          <a:solidFill>
            <a:srgbClr val="FFFFFF"/>
          </a:solidFill>
          <a:ln/>
        </p:spPr>
      </p:sp>
      <p:sp>
        <p:nvSpPr>
          <p:cNvPr id="25" name="Shape 22"/>
          <p:cNvSpPr/>
          <p:nvPr/>
        </p:nvSpPr>
        <p:spPr>
          <a:xfrm>
            <a:off x="4643438" y="2932509"/>
            <a:ext cx="4214813" cy="28575"/>
          </a:xfrm>
          <a:prstGeom prst="rect">
            <a:avLst/>
          </a:prstGeom>
          <a:solidFill>
            <a:srgbClr val="8B5CF6"/>
          </a:solidFill>
          <a:ln/>
        </p:spPr>
      </p:sp>
      <p:sp>
        <p:nvSpPr>
          <p:cNvPr id="26" name="Shape 23"/>
          <p:cNvSpPr/>
          <p:nvPr/>
        </p:nvSpPr>
        <p:spPr>
          <a:xfrm>
            <a:off x="8851106" y="2932509"/>
            <a:ext cx="7144" cy="1714500"/>
          </a:xfrm>
          <a:prstGeom prst="rect">
            <a:avLst/>
          </a:prstGeom>
          <a:solidFill>
            <a:srgbClr val="E2E8F0"/>
          </a:solidFill>
          <a:ln/>
        </p:spPr>
      </p:sp>
      <p:sp>
        <p:nvSpPr>
          <p:cNvPr id="27" name="Shape 24"/>
          <p:cNvSpPr/>
          <p:nvPr/>
        </p:nvSpPr>
        <p:spPr>
          <a:xfrm>
            <a:off x="4643438" y="4639866"/>
            <a:ext cx="4214813" cy="7144"/>
          </a:xfrm>
          <a:prstGeom prst="rect">
            <a:avLst/>
          </a:prstGeom>
          <a:solidFill>
            <a:srgbClr val="E2E8F0"/>
          </a:solidFill>
          <a:ln/>
        </p:spPr>
      </p:sp>
      <p:sp>
        <p:nvSpPr>
          <p:cNvPr id="28" name="Shape 25"/>
          <p:cNvSpPr/>
          <p:nvPr/>
        </p:nvSpPr>
        <p:spPr>
          <a:xfrm>
            <a:off x="4643438" y="2932509"/>
            <a:ext cx="7144" cy="1714500"/>
          </a:xfrm>
          <a:prstGeom prst="rect">
            <a:avLst/>
          </a:prstGeom>
          <a:solidFill>
            <a:srgbClr val="E2E8F0"/>
          </a:solidFill>
          <a:ln/>
        </p:spPr>
      </p:sp>
      <p:sp>
        <p:nvSpPr>
          <p:cNvPr id="29" name="Text 26"/>
          <p:cNvSpPr/>
          <p:nvPr/>
        </p:nvSpPr>
        <p:spPr>
          <a:xfrm>
            <a:off x="4786313" y="3075384"/>
            <a:ext cx="3929063" cy="303609"/>
          </a:xfrm>
          <a:prstGeom prst="rect">
            <a:avLst/>
          </a:prstGeom>
          <a:noFill/>
          <a:ln/>
        </p:spPr>
        <p:txBody>
          <a:bodyPr wrap="square" lIns="0" tIns="0" rIns="0" bIns="0" rtlCol="0" anchor="t">
            <a:spAutoFit/>
          </a:bodyPr>
          <a:lstStyle/>
          <a:p>
            <a:pPr algn="l" indent="0" marL="0">
              <a:buNone/>
            </a:pPr>
            <a:r>
              <a:rPr lang="en-US" sz="1000" b="1" dirty="0">
                <a:solidFill>
                  <a:srgbClr val="8B5CF6"/>
                </a:solidFill>
                <a:latin typeface="Noto Sans Arabic Bold" pitchFamily="34" charset="0"/>
                <a:ea typeface="Noto Sans Arabic Bold" pitchFamily="34" charset="-122"/>
                <a:cs typeface="Noto Sans Arabic Bold" pitchFamily="34" charset="-120"/>
              </a:rPr>
              <a:t>الأطراف المعنية</a:t>
            </a:r>
            <a:endParaRPr lang="en-US" sz="1000" dirty="0"/>
          </a:p>
        </p:txBody>
      </p:sp>
      <p:sp>
        <p:nvSpPr>
          <p:cNvPr id="30" name="Text 27"/>
          <p:cNvSpPr/>
          <p:nvPr/>
        </p:nvSpPr>
        <p:spPr>
          <a:xfrm>
            <a:off x="4786313" y="3486150"/>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البنك المركزي السعودي (SAMA).</a:t>
            </a:r>
            <a:endParaRPr lang="en-US" sz="850" dirty="0"/>
          </a:p>
        </p:txBody>
      </p:sp>
      <p:sp>
        <p:nvSpPr>
          <p:cNvPr id="31" name="Text 28"/>
          <p:cNvSpPr/>
          <p:nvPr/>
        </p:nvSpPr>
        <p:spPr>
          <a:xfrm>
            <a:off x="4786313" y="3726135"/>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العملاء والموظفون والمساهمون.</a:t>
            </a:r>
            <a:endParaRPr lang="en-US" sz="850" dirty="0"/>
          </a:p>
        </p:txBody>
      </p:sp>
      <p:sp>
        <p:nvSpPr>
          <p:cNvPr id="32" name="Text 29"/>
          <p:cNvSpPr/>
          <p:nvPr/>
        </p:nvSpPr>
        <p:spPr>
          <a:xfrm>
            <a:off x="4786313" y="3966121"/>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مزودو الخدمات السحابية (AWS) والموردون التقنيون.</a:t>
            </a:r>
            <a:endParaRPr lang="en-US" sz="850" dirty="0"/>
          </a:p>
        </p:txBody>
      </p:sp>
      <p:sp>
        <p:nvSpPr>
          <p:cNvPr id="33" name="Shape 30"/>
          <p:cNvSpPr/>
          <p:nvPr/>
        </p:nvSpPr>
        <p:spPr>
          <a:xfrm>
            <a:off x="285750" y="2932509"/>
            <a:ext cx="4214813" cy="1714500"/>
          </a:xfrm>
          <a:prstGeom prst="rect">
            <a:avLst/>
          </a:prstGeom>
          <a:solidFill>
            <a:srgbClr val="FFFFFF"/>
          </a:solidFill>
          <a:ln/>
        </p:spPr>
      </p:sp>
      <p:sp>
        <p:nvSpPr>
          <p:cNvPr id="34" name="Shape 31"/>
          <p:cNvSpPr/>
          <p:nvPr/>
        </p:nvSpPr>
        <p:spPr>
          <a:xfrm>
            <a:off x="285750" y="2932509"/>
            <a:ext cx="4214813" cy="28575"/>
          </a:xfrm>
          <a:prstGeom prst="rect">
            <a:avLst/>
          </a:prstGeom>
          <a:solidFill>
            <a:srgbClr val="8B5CF6"/>
          </a:solidFill>
          <a:ln/>
        </p:spPr>
      </p:sp>
      <p:sp>
        <p:nvSpPr>
          <p:cNvPr id="35" name="Shape 32"/>
          <p:cNvSpPr/>
          <p:nvPr/>
        </p:nvSpPr>
        <p:spPr>
          <a:xfrm>
            <a:off x="4493419" y="2932509"/>
            <a:ext cx="7144" cy="1714500"/>
          </a:xfrm>
          <a:prstGeom prst="rect">
            <a:avLst/>
          </a:prstGeom>
          <a:solidFill>
            <a:srgbClr val="E2E8F0"/>
          </a:solidFill>
          <a:ln/>
        </p:spPr>
      </p:sp>
      <p:sp>
        <p:nvSpPr>
          <p:cNvPr id="36" name="Shape 33"/>
          <p:cNvSpPr/>
          <p:nvPr/>
        </p:nvSpPr>
        <p:spPr>
          <a:xfrm>
            <a:off x="285750" y="4639866"/>
            <a:ext cx="4214813" cy="7144"/>
          </a:xfrm>
          <a:prstGeom prst="rect">
            <a:avLst/>
          </a:prstGeom>
          <a:solidFill>
            <a:srgbClr val="E2E8F0"/>
          </a:solidFill>
          <a:ln/>
        </p:spPr>
      </p:sp>
      <p:sp>
        <p:nvSpPr>
          <p:cNvPr id="37" name="Shape 34"/>
          <p:cNvSpPr/>
          <p:nvPr/>
        </p:nvSpPr>
        <p:spPr>
          <a:xfrm>
            <a:off x="285750" y="2932509"/>
            <a:ext cx="7144" cy="1714500"/>
          </a:xfrm>
          <a:prstGeom prst="rect">
            <a:avLst/>
          </a:prstGeom>
          <a:solidFill>
            <a:srgbClr val="E2E8F0"/>
          </a:solidFill>
          <a:ln/>
        </p:spPr>
      </p:sp>
      <p:sp>
        <p:nvSpPr>
          <p:cNvPr id="38" name="Text 35"/>
          <p:cNvSpPr/>
          <p:nvPr/>
        </p:nvSpPr>
        <p:spPr>
          <a:xfrm>
            <a:off x="428625" y="3075384"/>
            <a:ext cx="3929063" cy="303609"/>
          </a:xfrm>
          <a:prstGeom prst="rect">
            <a:avLst/>
          </a:prstGeom>
          <a:noFill/>
          <a:ln/>
        </p:spPr>
        <p:txBody>
          <a:bodyPr wrap="square" lIns="0" tIns="0" rIns="0" bIns="0" rtlCol="0" anchor="t">
            <a:spAutoFit/>
          </a:bodyPr>
          <a:lstStyle/>
          <a:p>
            <a:pPr algn="l" indent="0" marL="0">
              <a:buNone/>
            </a:pPr>
            <a:r>
              <a:rPr lang="en-US" sz="1000" b="1" dirty="0">
                <a:solidFill>
                  <a:srgbClr val="8B5CF6"/>
                </a:solidFill>
                <a:latin typeface="Noto Sans Arabic Bold" pitchFamily="34" charset="0"/>
                <a:ea typeface="Noto Sans Arabic Bold" pitchFamily="34" charset="-122"/>
                <a:cs typeface="Noto Sans Arabic Bold" pitchFamily="34" charset="-120"/>
              </a:rPr>
              <a:t>الأصول الرئيسية</a:t>
            </a:r>
            <a:endParaRPr lang="en-US" sz="1000" dirty="0"/>
          </a:p>
        </p:txBody>
      </p:sp>
      <p:sp>
        <p:nvSpPr>
          <p:cNvPr id="39" name="Text 36"/>
          <p:cNvSpPr/>
          <p:nvPr/>
        </p:nvSpPr>
        <p:spPr>
          <a:xfrm>
            <a:off x="428625" y="3486150"/>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قواعد بيانات العملاء والمعلومات السرية.</a:t>
            </a:r>
            <a:endParaRPr lang="en-US" sz="850" dirty="0"/>
          </a:p>
        </p:txBody>
      </p:sp>
      <p:sp>
        <p:nvSpPr>
          <p:cNvPr id="40" name="Text 37"/>
          <p:cNvSpPr/>
          <p:nvPr/>
        </p:nvSpPr>
        <p:spPr>
          <a:xfrm>
            <a:off x="428625" y="3726135"/>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البنية التحتية للشبكات والجدران النارية.</a:t>
            </a:r>
            <a:endParaRPr lang="en-US" sz="850" dirty="0"/>
          </a:p>
        </p:txBody>
      </p:sp>
      <p:sp>
        <p:nvSpPr>
          <p:cNvPr id="41" name="Text 38"/>
          <p:cNvSpPr/>
          <p:nvPr/>
        </p:nvSpPr>
        <p:spPr>
          <a:xfrm>
            <a:off x="428625" y="3966121"/>
            <a:ext cx="3786188" cy="182835"/>
          </a:xfrm>
          <a:prstGeom prst="rect">
            <a:avLst/>
          </a:prstGeom>
          <a:noFill/>
          <a:ln/>
        </p:spPr>
        <p:txBody>
          <a:bodyPr wrap="none" lIns="0" tIns="0" rIns="0" bIns="0" rtlCol="0" anchor="t">
            <a:spAutoFit/>
          </a:bodyPr>
          <a:lstStyle/>
          <a:p>
            <a:pPr algn="r" marL="127000" indent="-127000">
              <a:lnSpc>
                <a:spcPct val="128000"/>
              </a:lnSpc>
              <a:buSzPct val="100000"/>
              <a:buChar char="•"/>
            </a:pPr>
            <a:r>
              <a:rPr lang="en-US" sz="850" dirty="0">
                <a:solidFill>
                  <a:srgbClr val="0F172A"/>
                </a:solidFill>
                <a:latin typeface="Noto Sans Arabic" pitchFamily="34" charset="0"/>
                <a:ea typeface="Noto Sans Arabic" pitchFamily="34" charset="-122"/>
                <a:cs typeface="Noto Sans Arabic" pitchFamily="34" charset="-120"/>
              </a:rPr>
              <a:t>الشيفرة المصدرية للتطبيقات والأنظمة المصرفية.</a:t>
            </a:r>
            <a:endParaRPr lang="en-US" sz="850" dirty="0"/>
          </a:p>
        </p:txBody>
      </p:sp>
      <p:sp>
        <p:nvSpPr>
          <p:cNvPr id="42" name="Text 39"/>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43" name="Text 40"/>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517922"/>
          </a:xfrm>
          <a:prstGeom prst="rect">
            <a:avLst/>
          </a:prstGeom>
          <a:solidFill>
            <a:srgbClr val="000000">
              <a:alpha val="0"/>
            </a:srgbClr>
          </a:solidFill>
          <a:ln/>
        </p:spPr>
      </p:sp>
      <p:sp>
        <p:nvSpPr>
          <p:cNvPr id="4" name="Shape 1"/>
          <p:cNvSpPr/>
          <p:nvPr/>
        </p:nvSpPr>
        <p:spPr>
          <a:xfrm>
            <a:off x="285750" y="789384"/>
            <a:ext cx="8572500" cy="14288"/>
          </a:xfrm>
          <a:prstGeom prst="rect">
            <a:avLst/>
          </a:prstGeom>
          <a:solidFill>
            <a:srgbClr val="8B5CF6"/>
          </a:solidFill>
          <a:ln/>
        </p:spPr>
      </p:sp>
      <p:sp>
        <p:nvSpPr>
          <p:cNvPr id="5" name="Text 2"/>
          <p:cNvSpPr/>
          <p:nvPr/>
        </p:nvSpPr>
        <p:spPr>
          <a:xfrm>
            <a:off x="285750" y="285750"/>
            <a:ext cx="8572500" cy="517922"/>
          </a:xfrm>
          <a:prstGeom prst="rect">
            <a:avLst/>
          </a:prstGeom>
          <a:noFill/>
          <a:ln/>
        </p:spPr>
        <p:txBody>
          <a:bodyPr wrap="square" lIns="0" tIns="0" rIns="0" bIns="85090" rtlCol="0" anchor="t">
            <a:spAutoFit/>
          </a:bodyPr>
          <a:lstStyle/>
          <a:p>
            <a:pPr algn="l" indent="0" marL="0">
              <a:buNone/>
            </a:pPr>
            <a:r>
              <a:rPr lang="en-US" sz="1600" b="1" dirty="0">
                <a:solidFill>
                  <a:srgbClr val="0F172A"/>
                </a:solidFill>
                <a:latin typeface="Noto Kufi Arabic Bold" pitchFamily="34" charset="0"/>
                <a:ea typeface="Noto Kufi Arabic Bold" pitchFamily="34" charset="-122"/>
                <a:cs typeface="Noto Kufi Arabic Bold" pitchFamily="34" charset="-120"/>
              </a:rPr>
              <a:t>تقييم المخاطر ومعالجتها</a:t>
            </a:r>
            <a:endParaRPr lang="en-US" sz="1600" dirty="0"/>
          </a:p>
        </p:txBody>
      </p:sp>
      <p:sp>
        <p:nvSpPr>
          <p:cNvPr id="6" name="Shape 3"/>
          <p:cNvSpPr/>
          <p:nvPr/>
        </p:nvSpPr>
        <p:spPr>
          <a:xfrm>
            <a:off x="5514975" y="1003697"/>
            <a:ext cx="3343275" cy="3128963"/>
          </a:xfrm>
          <a:prstGeom prst="rect">
            <a:avLst/>
          </a:prstGeom>
          <a:solidFill>
            <a:srgbClr val="FFFFFF"/>
          </a:solidFill>
          <a:ln/>
        </p:spPr>
      </p:sp>
      <p:sp>
        <p:nvSpPr>
          <p:cNvPr id="7" name="Shape 4"/>
          <p:cNvSpPr/>
          <p:nvPr/>
        </p:nvSpPr>
        <p:spPr>
          <a:xfrm>
            <a:off x="5514975" y="1003697"/>
            <a:ext cx="3343275" cy="28575"/>
          </a:xfrm>
          <a:prstGeom prst="rect">
            <a:avLst/>
          </a:prstGeom>
          <a:solidFill>
            <a:srgbClr val="8B5CF6"/>
          </a:solidFill>
          <a:ln/>
        </p:spPr>
      </p:sp>
      <p:sp>
        <p:nvSpPr>
          <p:cNvPr id="8" name="Shape 5"/>
          <p:cNvSpPr/>
          <p:nvPr/>
        </p:nvSpPr>
        <p:spPr>
          <a:xfrm>
            <a:off x="8851106" y="1003697"/>
            <a:ext cx="7144" cy="3128963"/>
          </a:xfrm>
          <a:prstGeom prst="rect">
            <a:avLst/>
          </a:prstGeom>
          <a:solidFill>
            <a:srgbClr val="E2E8F0"/>
          </a:solidFill>
          <a:ln/>
        </p:spPr>
      </p:sp>
      <p:sp>
        <p:nvSpPr>
          <p:cNvPr id="9" name="Shape 6"/>
          <p:cNvSpPr/>
          <p:nvPr/>
        </p:nvSpPr>
        <p:spPr>
          <a:xfrm>
            <a:off x="5514975" y="4125516"/>
            <a:ext cx="3343275" cy="7144"/>
          </a:xfrm>
          <a:prstGeom prst="rect">
            <a:avLst/>
          </a:prstGeom>
          <a:solidFill>
            <a:srgbClr val="E2E8F0"/>
          </a:solidFill>
          <a:ln/>
        </p:spPr>
      </p:sp>
      <p:sp>
        <p:nvSpPr>
          <p:cNvPr id="10" name="Shape 7"/>
          <p:cNvSpPr/>
          <p:nvPr/>
        </p:nvSpPr>
        <p:spPr>
          <a:xfrm>
            <a:off x="5514975" y="1003697"/>
            <a:ext cx="7144" cy="3128963"/>
          </a:xfrm>
          <a:prstGeom prst="rect">
            <a:avLst/>
          </a:prstGeom>
          <a:solidFill>
            <a:srgbClr val="E2E8F0"/>
          </a:solidFill>
          <a:ln/>
        </p:spPr>
      </p:sp>
      <p:sp>
        <p:nvSpPr>
          <p:cNvPr id="11" name="Text 8"/>
          <p:cNvSpPr/>
          <p:nvPr/>
        </p:nvSpPr>
        <p:spPr>
          <a:xfrm>
            <a:off x="5657850" y="1146572"/>
            <a:ext cx="3057525" cy="242888"/>
          </a:xfrm>
          <a:prstGeom prst="rect">
            <a:avLst/>
          </a:prstGeom>
          <a:noFill/>
          <a:ln/>
        </p:spPr>
        <p:txBody>
          <a:bodyPr wrap="square" lIns="0" tIns="0" rIns="0" bIns="0" rtlCol="0" anchor="t">
            <a:spAutoFit/>
          </a:bodyPr>
          <a:lstStyle/>
          <a:p>
            <a:pPr algn="l"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مصفوفة المخاطر المتبقية</a:t>
            </a:r>
            <a:endParaRPr lang="en-US" sz="800" dirty="0"/>
          </a:p>
        </p:txBody>
      </p:sp>
      <p:sp>
        <p:nvSpPr>
          <p:cNvPr id="12" name="Text 9"/>
          <p:cNvSpPr/>
          <p:nvPr/>
        </p:nvSpPr>
        <p:spPr>
          <a:xfrm>
            <a:off x="7168195" y="1464469"/>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منخفض</a:t>
            </a:r>
            <a:endParaRPr lang="en-US" sz="800" dirty="0"/>
          </a:p>
        </p:txBody>
      </p:sp>
      <p:sp>
        <p:nvSpPr>
          <p:cNvPr id="13" name="Text 10"/>
          <p:cNvSpPr/>
          <p:nvPr/>
        </p:nvSpPr>
        <p:spPr>
          <a:xfrm>
            <a:off x="6396391" y="1464469"/>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متوسط</a:t>
            </a:r>
            <a:endParaRPr lang="en-US" sz="800" dirty="0"/>
          </a:p>
        </p:txBody>
      </p:sp>
      <p:sp>
        <p:nvSpPr>
          <p:cNvPr id="14" name="Text 11"/>
          <p:cNvSpPr/>
          <p:nvPr/>
        </p:nvSpPr>
        <p:spPr>
          <a:xfrm>
            <a:off x="5661422" y="1464469"/>
            <a:ext cx="734969"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عالٍ</a:t>
            </a:r>
            <a:endParaRPr lang="en-US" sz="800" dirty="0"/>
          </a:p>
        </p:txBody>
      </p:sp>
      <p:sp>
        <p:nvSpPr>
          <p:cNvPr id="15" name="Text 12"/>
          <p:cNvSpPr/>
          <p:nvPr/>
        </p:nvSpPr>
        <p:spPr>
          <a:xfrm>
            <a:off x="7939999" y="1928813"/>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عالٍ</a:t>
            </a:r>
            <a:endParaRPr lang="en-US" sz="800" dirty="0"/>
          </a:p>
        </p:txBody>
      </p:sp>
      <p:sp>
        <p:nvSpPr>
          <p:cNvPr id="16" name="Shape 13"/>
          <p:cNvSpPr/>
          <p:nvPr/>
        </p:nvSpPr>
        <p:spPr>
          <a:xfrm>
            <a:off x="7168195" y="1928813"/>
            <a:ext cx="771804" cy="464344"/>
          </a:xfrm>
          <a:prstGeom prst="rect">
            <a:avLst/>
          </a:prstGeom>
          <a:solidFill>
            <a:srgbClr val="FEF3C7"/>
          </a:solidFill>
          <a:ln w="9144">
            <a:solidFill>
              <a:srgbClr val="E2E8F0"/>
            </a:solidFill>
            <a:prstDash val="solid"/>
          </a:ln>
        </p:spPr>
      </p:sp>
      <p:sp>
        <p:nvSpPr>
          <p:cNvPr id="17" name="Text 14"/>
          <p:cNvSpPr/>
          <p:nvPr/>
        </p:nvSpPr>
        <p:spPr>
          <a:xfrm>
            <a:off x="7168195" y="1928813"/>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92400E"/>
                </a:solidFill>
                <a:latin typeface="Noto Sans Arabic Bold" pitchFamily="34" charset="0"/>
                <a:ea typeface="Noto Sans Arabic Bold" pitchFamily="34" charset="-122"/>
                <a:cs typeface="Noto Sans Arabic Bold" pitchFamily="34" charset="-120"/>
              </a:rPr>
              <a:t>متوسط</a:t>
            </a:r>
            <a:endParaRPr lang="en-US" sz="800" dirty="0"/>
          </a:p>
        </p:txBody>
      </p:sp>
      <p:sp>
        <p:nvSpPr>
          <p:cNvPr id="18" name="Shape 15"/>
          <p:cNvSpPr/>
          <p:nvPr/>
        </p:nvSpPr>
        <p:spPr>
          <a:xfrm>
            <a:off x="6396391" y="1928813"/>
            <a:ext cx="771804" cy="464344"/>
          </a:xfrm>
          <a:prstGeom prst="rect">
            <a:avLst/>
          </a:prstGeom>
          <a:solidFill>
            <a:srgbClr val="FEE2E2"/>
          </a:solidFill>
          <a:ln w="9144">
            <a:solidFill>
              <a:srgbClr val="E2E8F0"/>
            </a:solidFill>
            <a:prstDash val="solid"/>
          </a:ln>
        </p:spPr>
      </p:sp>
      <p:sp>
        <p:nvSpPr>
          <p:cNvPr id="19" name="Text 16"/>
          <p:cNvSpPr/>
          <p:nvPr/>
        </p:nvSpPr>
        <p:spPr>
          <a:xfrm>
            <a:off x="6396391" y="1928813"/>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991B1B"/>
                </a:solidFill>
                <a:latin typeface="Noto Sans Arabic Bold" pitchFamily="34" charset="0"/>
                <a:ea typeface="Noto Sans Arabic Bold" pitchFamily="34" charset="-122"/>
                <a:cs typeface="Noto Sans Arabic Bold" pitchFamily="34" charset="-120"/>
              </a:rPr>
              <a:t>حرج</a:t>
            </a:r>
            <a:endParaRPr lang="en-US" sz="800" dirty="0"/>
          </a:p>
        </p:txBody>
      </p:sp>
      <p:sp>
        <p:nvSpPr>
          <p:cNvPr id="20" name="Shape 17"/>
          <p:cNvSpPr/>
          <p:nvPr/>
        </p:nvSpPr>
        <p:spPr>
          <a:xfrm>
            <a:off x="5661422" y="1928813"/>
            <a:ext cx="734969" cy="464344"/>
          </a:xfrm>
          <a:prstGeom prst="rect">
            <a:avLst/>
          </a:prstGeom>
          <a:solidFill>
            <a:srgbClr val="FEE2E2"/>
          </a:solidFill>
          <a:ln w="9144">
            <a:solidFill>
              <a:srgbClr val="E2E8F0"/>
            </a:solidFill>
            <a:prstDash val="solid"/>
          </a:ln>
        </p:spPr>
      </p:sp>
      <p:sp>
        <p:nvSpPr>
          <p:cNvPr id="21" name="Text 18"/>
          <p:cNvSpPr/>
          <p:nvPr/>
        </p:nvSpPr>
        <p:spPr>
          <a:xfrm>
            <a:off x="5661422" y="1928813"/>
            <a:ext cx="734969"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991B1B"/>
                </a:solidFill>
                <a:latin typeface="Noto Sans Arabic Bold" pitchFamily="34" charset="0"/>
                <a:ea typeface="Noto Sans Arabic Bold" pitchFamily="34" charset="-122"/>
                <a:cs typeface="Noto Sans Arabic Bold" pitchFamily="34" charset="-120"/>
              </a:rPr>
              <a:t>حرج</a:t>
            </a:r>
            <a:endParaRPr lang="en-US" sz="800" dirty="0"/>
          </a:p>
        </p:txBody>
      </p:sp>
      <p:sp>
        <p:nvSpPr>
          <p:cNvPr id="22" name="Text 19"/>
          <p:cNvSpPr/>
          <p:nvPr/>
        </p:nvSpPr>
        <p:spPr>
          <a:xfrm>
            <a:off x="7939999" y="2393156"/>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متوسط</a:t>
            </a:r>
            <a:endParaRPr lang="en-US" sz="800" dirty="0"/>
          </a:p>
        </p:txBody>
      </p:sp>
      <p:sp>
        <p:nvSpPr>
          <p:cNvPr id="23" name="Shape 20"/>
          <p:cNvSpPr/>
          <p:nvPr/>
        </p:nvSpPr>
        <p:spPr>
          <a:xfrm>
            <a:off x="7168195" y="2393156"/>
            <a:ext cx="771804" cy="464344"/>
          </a:xfrm>
          <a:prstGeom prst="rect">
            <a:avLst/>
          </a:prstGeom>
          <a:solidFill>
            <a:srgbClr val="D1FAE5"/>
          </a:solidFill>
          <a:ln w="9144">
            <a:solidFill>
              <a:srgbClr val="E2E8F0"/>
            </a:solidFill>
            <a:prstDash val="solid"/>
          </a:ln>
        </p:spPr>
      </p:sp>
      <p:sp>
        <p:nvSpPr>
          <p:cNvPr id="24" name="Text 21"/>
          <p:cNvSpPr/>
          <p:nvPr/>
        </p:nvSpPr>
        <p:spPr>
          <a:xfrm>
            <a:off x="7168195" y="2393156"/>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65F46"/>
                </a:solidFill>
                <a:latin typeface="Noto Sans Arabic Bold" pitchFamily="34" charset="0"/>
                <a:ea typeface="Noto Sans Arabic Bold" pitchFamily="34" charset="-122"/>
                <a:cs typeface="Noto Sans Arabic Bold" pitchFamily="34" charset="-120"/>
              </a:rPr>
              <a:t>منخفض</a:t>
            </a:r>
            <a:endParaRPr lang="en-US" sz="800" dirty="0"/>
          </a:p>
        </p:txBody>
      </p:sp>
      <p:sp>
        <p:nvSpPr>
          <p:cNvPr id="25" name="Shape 22"/>
          <p:cNvSpPr/>
          <p:nvPr/>
        </p:nvSpPr>
        <p:spPr>
          <a:xfrm>
            <a:off x="6396391" y="2393156"/>
            <a:ext cx="771804" cy="464344"/>
          </a:xfrm>
          <a:prstGeom prst="rect">
            <a:avLst/>
          </a:prstGeom>
          <a:solidFill>
            <a:srgbClr val="FEF3C7"/>
          </a:solidFill>
          <a:ln w="9144">
            <a:solidFill>
              <a:srgbClr val="E2E8F0"/>
            </a:solidFill>
            <a:prstDash val="solid"/>
          </a:ln>
        </p:spPr>
      </p:sp>
      <p:sp>
        <p:nvSpPr>
          <p:cNvPr id="26" name="Text 23"/>
          <p:cNvSpPr/>
          <p:nvPr/>
        </p:nvSpPr>
        <p:spPr>
          <a:xfrm>
            <a:off x="6396391" y="2393156"/>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92400E"/>
                </a:solidFill>
                <a:latin typeface="Noto Sans Arabic Bold" pitchFamily="34" charset="0"/>
                <a:ea typeface="Noto Sans Arabic Bold" pitchFamily="34" charset="-122"/>
                <a:cs typeface="Noto Sans Arabic Bold" pitchFamily="34" charset="-120"/>
              </a:rPr>
              <a:t>متوسط</a:t>
            </a:r>
            <a:endParaRPr lang="en-US" sz="800" dirty="0"/>
          </a:p>
        </p:txBody>
      </p:sp>
      <p:sp>
        <p:nvSpPr>
          <p:cNvPr id="27" name="Shape 24"/>
          <p:cNvSpPr/>
          <p:nvPr/>
        </p:nvSpPr>
        <p:spPr>
          <a:xfrm>
            <a:off x="5661422" y="2393156"/>
            <a:ext cx="734969" cy="464344"/>
          </a:xfrm>
          <a:prstGeom prst="rect">
            <a:avLst/>
          </a:prstGeom>
          <a:solidFill>
            <a:srgbClr val="FEE2E2"/>
          </a:solidFill>
          <a:ln w="9144">
            <a:solidFill>
              <a:srgbClr val="E2E8F0"/>
            </a:solidFill>
            <a:prstDash val="solid"/>
          </a:ln>
        </p:spPr>
      </p:sp>
      <p:sp>
        <p:nvSpPr>
          <p:cNvPr id="28" name="Text 25"/>
          <p:cNvSpPr/>
          <p:nvPr/>
        </p:nvSpPr>
        <p:spPr>
          <a:xfrm>
            <a:off x="5661422" y="2393156"/>
            <a:ext cx="734969"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991B1B"/>
                </a:solidFill>
                <a:latin typeface="Noto Sans Arabic Bold" pitchFamily="34" charset="0"/>
                <a:ea typeface="Noto Sans Arabic Bold" pitchFamily="34" charset="-122"/>
                <a:cs typeface="Noto Sans Arabic Bold" pitchFamily="34" charset="-120"/>
              </a:rPr>
              <a:t>حرج</a:t>
            </a:r>
            <a:endParaRPr lang="en-US" sz="800" dirty="0"/>
          </a:p>
        </p:txBody>
      </p:sp>
      <p:sp>
        <p:nvSpPr>
          <p:cNvPr id="29" name="Text 26"/>
          <p:cNvSpPr/>
          <p:nvPr/>
        </p:nvSpPr>
        <p:spPr>
          <a:xfrm>
            <a:off x="7939999" y="2857500"/>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منخفض</a:t>
            </a:r>
            <a:endParaRPr lang="en-US" sz="800" dirty="0"/>
          </a:p>
        </p:txBody>
      </p:sp>
      <p:sp>
        <p:nvSpPr>
          <p:cNvPr id="30" name="Shape 27"/>
          <p:cNvSpPr/>
          <p:nvPr/>
        </p:nvSpPr>
        <p:spPr>
          <a:xfrm>
            <a:off x="7168195" y="2857500"/>
            <a:ext cx="771804" cy="464344"/>
          </a:xfrm>
          <a:prstGeom prst="rect">
            <a:avLst/>
          </a:prstGeom>
          <a:solidFill>
            <a:srgbClr val="D1FAE5"/>
          </a:solidFill>
          <a:ln w="9144">
            <a:solidFill>
              <a:srgbClr val="E2E8F0"/>
            </a:solidFill>
            <a:prstDash val="solid"/>
          </a:ln>
        </p:spPr>
      </p:sp>
      <p:sp>
        <p:nvSpPr>
          <p:cNvPr id="31" name="Text 28"/>
          <p:cNvSpPr/>
          <p:nvPr/>
        </p:nvSpPr>
        <p:spPr>
          <a:xfrm>
            <a:off x="7168195" y="2857500"/>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65F46"/>
                </a:solidFill>
                <a:latin typeface="Noto Sans Arabic Bold" pitchFamily="34" charset="0"/>
                <a:ea typeface="Noto Sans Arabic Bold" pitchFamily="34" charset="-122"/>
                <a:cs typeface="Noto Sans Arabic Bold" pitchFamily="34" charset="-120"/>
              </a:rPr>
              <a:t>منخفض</a:t>
            </a:r>
            <a:endParaRPr lang="en-US" sz="800" dirty="0"/>
          </a:p>
        </p:txBody>
      </p:sp>
      <p:sp>
        <p:nvSpPr>
          <p:cNvPr id="32" name="Shape 29"/>
          <p:cNvSpPr/>
          <p:nvPr/>
        </p:nvSpPr>
        <p:spPr>
          <a:xfrm>
            <a:off x="6396391" y="2857500"/>
            <a:ext cx="771804" cy="464344"/>
          </a:xfrm>
          <a:prstGeom prst="rect">
            <a:avLst/>
          </a:prstGeom>
          <a:solidFill>
            <a:srgbClr val="D1FAE5"/>
          </a:solidFill>
          <a:ln w="9144">
            <a:solidFill>
              <a:srgbClr val="E2E8F0"/>
            </a:solidFill>
            <a:prstDash val="solid"/>
          </a:ln>
        </p:spPr>
      </p:sp>
      <p:sp>
        <p:nvSpPr>
          <p:cNvPr id="33" name="Text 30"/>
          <p:cNvSpPr/>
          <p:nvPr/>
        </p:nvSpPr>
        <p:spPr>
          <a:xfrm>
            <a:off x="6396391" y="2857500"/>
            <a:ext cx="77180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065F46"/>
                </a:solidFill>
                <a:latin typeface="Noto Sans Arabic Bold" pitchFamily="34" charset="0"/>
                <a:ea typeface="Noto Sans Arabic Bold" pitchFamily="34" charset="-122"/>
                <a:cs typeface="Noto Sans Arabic Bold" pitchFamily="34" charset="-120"/>
              </a:rPr>
              <a:t>منخفض</a:t>
            </a:r>
            <a:endParaRPr lang="en-US" sz="800" dirty="0"/>
          </a:p>
        </p:txBody>
      </p:sp>
      <p:sp>
        <p:nvSpPr>
          <p:cNvPr id="34" name="Shape 31"/>
          <p:cNvSpPr/>
          <p:nvPr/>
        </p:nvSpPr>
        <p:spPr>
          <a:xfrm>
            <a:off x="5661422" y="2857500"/>
            <a:ext cx="735974" cy="464344"/>
          </a:xfrm>
          <a:prstGeom prst="rect">
            <a:avLst/>
          </a:prstGeom>
          <a:solidFill>
            <a:srgbClr val="FEF3C7"/>
          </a:solidFill>
          <a:ln w="9144">
            <a:solidFill>
              <a:srgbClr val="E2E8F0"/>
            </a:solidFill>
            <a:prstDash val="solid"/>
          </a:ln>
        </p:spPr>
      </p:sp>
      <p:sp>
        <p:nvSpPr>
          <p:cNvPr id="35" name="Text 32"/>
          <p:cNvSpPr/>
          <p:nvPr/>
        </p:nvSpPr>
        <p:spPr>
          <a:xfrm>
            <a:off x="5661422" y="2857500"/>
            <a:ext cx="735974" cy="464344"/>
          </a:xfrm>
          <a:prstGeom prst="rect">
            <a:avLst/>
          </a:prstGeom>
          <a:noFill/>
          <a:ln/>
        </p:spPr>
        <p:txBody>
          <a:bodyPr wrap="none" lIns="127508" tIns="127508" rIns="127508" bIns="127508" rtlCol="0" anchor="ctr">
            <a:spAutoFit/>
          </a:bodyPr>
          <a:lstStyle/>
          <a:p>
            <a:pPr algn="ctr" indent="0" marL="0">
              <a:buNone/>
            </a:pPr>
            <a:r>
              <a:rPr lang="en-US" sz="800" b="1" dirty="0">
                <a:solidFill>
                  <a:srgbClr val="92400E"/>
                </a:solidFill>
                <a:latin typeface="Noto Sans Arabic Bold" pitchFamily="34" charset="0"/>
                <a:ea typeface="Noto Sans Arabic Bold" pitchFamily="34" charset="-122"/>
                <a:cs typeface="Noto Sans Arabic Bold" pitchFamily="34" charset="-120"/>
              </a:rPr>
              <a:t>متوسط</a:t>
            </a:r>
            <a:endParaRPr lang="en-US" sz="800" dirty="0"/>
          </a:p>
        </p:txBody>
      </p:sp>
      <p:sp>
        <p:nvSpPr>
          <p:cNvPr id="36" name="Text 33"/>
          <p:cNvSpPr/>
          <p:nvPr/>
        </p:nvSpPr>
        <p:spPr>
          <a:xfrm>
            <a:off x="5657850" y="3432572"/>
            <a:ext cx="3057525" cy="421481"/>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تم تحديد 12 خطراً رئيسياً وربطها بضوابط Annex A في بيان قابلية التطبيق (SoA).</a:t>
            </a:r>
            <a:endParaRPr lang="en-US" sz="750" dirty="0"/>
          </a:p>
        </p:txBody>
      </p:sp>
      <p:sp>
        <p:nvSpPr>
          <p:cNvPr id="37" name="Shape 34"/>
          <p:cNvSpPr/>
          <p:nvPr/>
        </p:nvSpPr>
        <p:spPr>
          <a:xfrm>
            <a:off x="285750" y="1003697"/>
            <a:ext cx="5014913" cy="2439591"/>
          </a:xfrm>
          <a:prstGeom prst="rect">
            <a:avLst/>
          </a:prstGeom>
          <a:solidFill>
            <a:srgbClr val="FFFFFF"/>
          </a:solidFill>
          <a:ln w="9144">
            <a:solidFill>
              <a:srgbClr val="E2E8F0"/>
            </a:solidFill>
            <a:prstDash val="solid"/>
          </a:ln>
        </p:spPr>
      </p:sp>
      <p:sp>
        <p:nvSpPr>
          <p:cNvPr id="38" name="Shape 35"/>
          <p:cNvSpPr/>
          <p:nvPr/>
        </p:nvSpPr>
        <p:spPr>
          <a:xfrm>
            <a:off x="4041800" y="1003697"/>
            <a:ext cx="1258863" cy="414338"/>
          </a:xfrm>
          <a:prstGeom prst="rect">
            <a:avLst/>
          </a:prstGeom>
          <a:solidFill>
            <a:srgbClr val="8B5CF6"/>
          </a:solidFill>
          <a:ln/>
        </p:spPr>
      </p:sp>
      <p:sp>
        <p:nvSpPr>
          <p:cNvPr id="39" name="Text 36"/>
          <p:cNvSpPr/>
          <p:nvPr/>
        </p:nvSpPr>
        <p:spPr>
          <a:xfrm>
            <a:off x="4041800" y="1003697"/>
            <a:ext cx="1258863" cy="414338"/>
          </a:xfrm>
          <a:prstGeom prst="rect">
            <a:avLst/>
          </a:prstGeom>
          <a:noFill/>
          <a:ln/>
        </p:spPr>
        <p:txBody>
          <a:bodyPr wrap="none" lIns="102108" tIns="102108" rIns="102108" bIns="102108" rtlCol="0" anchor="ctr">
            <a:spAutoFit/>
          </a:bodyPr>
          <a:lstStyle/>
          <a:p>
            <a:pPr algn="r" indent="0" marL="0">
              <a:buNone/>
            </a:pPr>
            <a:r>
              <a:rPr lang="en-US" sz="800" b="1" dirty="0">
                <a:solidFill>
                  <a:srgbClr val="FFFFFF"/>
                </a:solidFill>
                <a:latin typeface="Noto Sans Arabic Bold" pitchFamily="34" charset="0"/>
                <a:ea typeface="Noto Sans Arabic Bold" pitchFamily="34" charset="-122"/>
                <a:cs typeface="Noto Sans Arabic Bold" pitchFamily="34" charset="-120"/>
              </a:rPr>
              <a:t>الخطر</a:t>
            </a:r>
            <a:endParaRPr lang="en-US" sz="800" dirty="0"/>
          </a:p>
        </p:txBody>
      </p:sp>
      <p:sp>
        <p:nvSpPr>
          <p:cNvPr id="40" name="Shape 37"/>
          <p:cNvSpPr/>
          <p:nvPr/>
        </p:nvSpPr>
        <p:spPr>
          <a:xfrm>
            <a:off x="2758213" y="1003697"/>
            <a:ext cx="1283587" cy="414338"/>
          </a:xfrm>
          <a:prstGeom prst="rect">
            <a:avLst/>
          </a:prstGeom>
          <a:solidFill>
            <a:srgbClr val="8B5CF6"/>
          </a:solidFill>
          <a:ln/>
        </p:spPr>
      </p:sp>
      <p:sp>
        <p:nvSpPr>
          <p:cNvPr id="41" name="Text 38"/>
          <p:cNvSpPr/>
          <p:nvPr/>
        </p:nvSpPr>
        <p:spPr>
          <a:xfrm>
            <a:off x="2758213" y="1003697"/>
            <a:ext cx="1283587" cy="414338"/>
          </a:xfrm>
          <a:prstGeom prst="rect">
            <a:avLst/>
          </a:prstGeom>
          <a:noFill/>
          <a:ln/>
        </p:spPr>
        <p:txBody>
          <a:bodyPr wrap="none" lIns="102108" tIns="102108" rIns="102108" bIns="102108" rtlCol="0" anchor="ctr">
            <a:spAutoFit/>
          </a:bodyPr>
          <a:lstStyle/>
          <a:p>
            <a:pPr algn="r" indent="0" marL="0">
              <a:buNone/>
            </a:pPr>
            <a:r>
              <a:rPr lang="en-US" sz="800" b="1" dirty="0">
                <a:solidFill>
                  <a:srgbClr val="FFFFFF"/>
                </a:solidFill>
                <a:latin typeface="Noto Sans Arabic Bold" pitchFamily="34" charset="0"/>
                <a:ea typeface="Noto Sans Arabic Bold" pitchFamily="34" charset="-122"/>
                <a:cs typeface="Noto Sans Arabic Bold" pitchFamily="34" charset="-120"/>
              </a:rPr>
              <a:t>الضابط المطبق</a:t>
            </a:r>
            <a:endParaRPr lang="en-US" sz="800" dirty="0"/>
          </a:p>
        </p:txBody>
      </p:sp>
      <p:sp>
        <p:nvSpPr>
          <p:cNvPr id="42" name="Shape 39"/>
          <p:cNvSpPr/>
          <p:nvPr/>
        </p:nvSpPr>
        <p:spPr>
          <a:xfrm>
            <a:off x="285750" y="1003697"/>
            <a:ext cx="2472463" cy="414338"/>
          </a:xfrm>
          <a:prstGeom prst="rect">
            <a:avLst/>
          </a:prstGeom>
          <a:solidFill>
            <a:srgbClr val="8B5CF6"/>
          </a:solidFill>
          <a:ln/>
        </p:spPr>
      </p:sp>
      <p:sp>
        <p:nvSpPr>
          <p:cNvPr id="43" name="Text 40"/>
          <p:cNvSpPr/>
          <p:nvPr/>
        </p:nvSpPr>
        <p:spPr>
          <a:xfrm>
            <a:off x="285750" y="1003697"/>
            <a:ext cx="2472463" cy="414338"/>
          </a:xfrm>
          <a:prstGeom prst="rect">
            <a:avLst/>
          </a:prstGeom>
          <a:noFill/>
          <a:ln/>
        </p:spPr>
        <p:txBody>
          <a:bodyPr wrap="square" lIns="102108" tIns="102108" rIns="102108" bIns="102108" rtlCol="0" anchor="ctr">
            <a:spAutoFit/>
          </a:bodyPr>
          <a:lstStyle/>
          <a:p>
            <a:pPr algn="r" indent="0" marL="0">
              <a:buNone/>
            </a:pPr>
            <a:r>
              <a:rPr lang="en-US" sz="800" b="1" dirty="0">
                <a:solidFill>
                  <a:srgbClr val="FFFFFF"/>
                </a:solidFill>
                <a:latin typeface="Noto Sans Arabic Bold" pitchFamily="34" charset="0"/>
                <a:ea typeface="Noto Sans Arabic Bold" pitchFamily="34" charset="-122"/>
                <a:cs typeface="Noto Sans Arabic Bold" pitchFamily="34" charset="-120"/>
              </a:rPr>
              <a:t>خطة المعالجة</a:t>
            </a:r>
            <a:endParaRPr lang="en-US" sz="800" dirty="0"/>
          </a:p>
        </p:txBody>
      </p:sp>
      <p:sp>
        <p:nvSpPr>
          <p:cNvPr id="44" name="Text 41"/>
          <p:cNvSpPr/>
          <p:nvPr/>
        </p:nvSpPr>
        <p:spPr>
          <a:xfrm>
            <a:off x="4041800" y="1418034"/>
            <a:ext cx="1258863" cy="400050"/>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كشف بيانات العملاء</a:t>
            </a:r>
            <a:endParaRPr lang="en-US" sz="800" dirty="0"/>
          </a:p>
        </p:txBody>
      </p:sp>
      <p:sp>
        <p:nvSpPr>
          <p:cNvPr id="45" name="Text 42"/>
          <p:cNvSpPr/>
          <p:nvPr/>
        </p:nvSpPr>
        <p:spPr>
          <a:xfrm>
            <a:off x="2758213" y="1418034"/>
            <a:ext cx="1283587" cy="400050"/>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A.8.24 (التشفير)</a:t>
            </a:r>
            <a:endParaRPr lang="en-US" sz="800" dirty="0"/>
          </a:p>
        </p:txBody>
      </p:sp>
      <p:sp>
        <p:nvSpPr>
          <p:cNvPr id="46" name="Text 43"/>
          <p:cNvSpPr/>
          <p:nvPr/>
        </p:nvSpPr>
        <p:spPr>
          <a:xfrm>
            <a:off x="285750" y="1418034"/>
            <a:ext cx="2472463" cy="400050"/>
          </a:xfrm>
          <a:prstGeom prst="rect">
            <a:avLst/>
          </a:prstGeom>
          <a:noFill/>
          <a:ln/>
        </p:spPr>
        <p:txBody>
          <a:bodyPr wrap="squar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تشفير قواعد البيانات والنسخ الاحتياطي.</a:t>
            </a:r>
            <a:endParaRPr lang="en-US" sz="800" dirty="0"/>
          </a:p>
        </p:txBody>
      </p:sp>
      <p:sp>
        <p:nvSpPr>
          <p:cNvPr id="47" name="Shape 44"/>
          <p:cNvSpPr/>
          <p:nvPr/>
        </p:nvSpPr>
        <p:spPr>
          <a:xfrm>
            <a:off x="285750" y="1818084"/>
            <a:ext cx="5014913" cy="403622"/>
          </a:xfrm>
          <a:prstGeom prst="rect">
            <a:avLst/>
          </a:prstGeom>
          <a:solidFill>
            <a:srgbClr val="F8FAFC"/>
          </a:solidFill>
          <a:ln/>
        </p:spPr>
      </p:sp>
      <p:sp>
        <p:nvSpPr>
          <p:cNvPr id="48" name="Text 45"/>
          <p:cNvSpPr/>
          <p:nvPr/>
        </p:nvSpPr>
        <p:spPr>
          <a:xfrm>
            <a:off x="4041800" y="1818084"/>
            <a:ext cx="1258863"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هجمات الفدية</a:t>
            </a:r>
            <a:endParaRPr lang="en-US" sz="800" dirty="0"/>
          </a:p>
        </p:txBody>
      </p:sp>
      <p:sp>
        <p:nvSpPr>
          <p:cNvPr id="49" name="Text 46"/>
          <p:cNvSpPr/>
          <p:nvPr/>
        </p:nvSpPr>
        <p:spPr>
          <a:xfrm>
            <a:off x="2758213" y="1818084"/>
            <a:ext cx="1283587"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A.8.13 (النسخ)</a:t>
            </a:r>
            <a:endParaRPr lang="en-US" sz="800" dirty="0"/>
          </a:p>
        </p:txBody>
      </p:sp>
      <p:sp>
        <p:nvSpPr>
          <p:cNvPr id="50" name="Text 47"/>
          <p:cNvSpPr/>
          <p:nvPr/>
        </p:nvSpPr>
        <p:spPr>
          <a:xfrm>
            <a:off x="285750" y="1818084"/>
            <a:ext cx="2472463" cy="403622"/>
          </a:xfrm>
          <a:prstGeom prst="rect">
            <a:avLst/>
          </a:prstGeom>
          <a:noFill/>
          <a:ln/>
        </p:spPr>
        <p:txBody>
          <a:bodyPr wrap="squar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نسخ غير متصل واختبار استعادة دوري.</a:t>
            </a:r>
            <a:endParaRPr lang="en-US" sz="800" dirty="0"/>
          </a:p>
        </p:txBody>
      </p:sp>
      <p:sp>
        <p:nvSpPr>
          <p:cNvPr id="51" name="Text 48"/>
          <p:cNvSpPr/>
          <p:nvPr/>
        </p:nvSpPr>
        <p:spPr>
          <a:xfrm>
            <a:off x="4041800" y="2221706"/>
            <a:ext cx="1258863"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وصول غير مصرح</a:t>
            </a:r>
            <a:endParaRPr lang="en-US" sz="800" dirty="0"/>
          </a:p>
        </p:txBody>
      </p:sp>
      <p:sp>
        <p:nvSpPr>
          <p:cNvPr id="52" name="Text 49"/>
          <p:cNvSpPr/>
          <p:nvPr/>
        </p:nvSpPr>
        <p:spPr>
          <a:xfrm>
            <a:off x="2758213" y="2221706"/>
            <a:ext cx="1283587"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A.5.15 (الهوية)</a:t>
            </a:r>
            <a:endParaRPr lang="en-US" sz="800" dirty="0"/>
          </a:p>
        </p:txBody>
      </p:sp>
      <p:sp>
        <p:nvSpPr>
          <p:cNvPr id="53" name="Text 50"/>
          <p:cNvSpPr/>
          <p:nvPr/>
        </p:nvSpPr>
        <p:spPr>
          <a:xfrm>
            <a:off x="285750" y="2221706"/>
            <a:ext cx="2472463" cy="403622"/>
          </a:xfrm>
          <a:prstGeom prst="rect">
            <a:avLst/>
          </a:prstGeom>
          <a:noFill/>
          <a:ln/>
        </p:spPr>
        <p:txBody>
          <a:bodyPr wrap="squar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تفعيل MFA ومراجعة الصلاحيات فصلياً.</a:t>
            </a:r>
            <a:endParaRPr lang="en-US" sz="800" dirty="0"/>
          </a:p>
        </p:txBody>
      </p:sp>
      <p:sp>
        <p:nvSpPr>
          <p:cNvPr id="54" name="Shape 51"/>
          <p:cNvSpPr/>
          <p:nvPr/>
        </p:nvSpPr>
        <p:spPr>
          <a:xfrm>
            <a:off x="285750" y="2625328"/>
            <a:ext cx="5014913" cy="403622"/>
          </a:xfrm>
          <a:prstGeom prst="rect">
            <a:avLst/>
          </a:prstGeom>
          <a:solidFill>
            <a:srgbClr val="F8FAFC"/>
          </a:solidFill>
          <a:ln/>
        </p:spPr>
      </p:sp>
      <p:sp>
        <p:nvSpPr>
          <p:cNvPr id="55" name="Text 52"/>
          <p:cNvSpPr/>
          <p:nvPr/>
        </p:nvSpPr>
        <p:spPr>
          <a:xfrm>
            <a:off x="4041800" y="2625328"/>
            <a:ext cx="1258863"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ثغرات تقنية</a:t>
            </a:r>
            <a:endParaRPr lang="en-US" sz="800" dirty="0"/>
          </a:p>
        </p:txBody>
      </p:sp>
      <p:sp>
        <p:nvSpPr>
          <p:cNvPr id="56" name="Text 53"/>
          <p:cNvSpPr/>
          <p:nvPr/>
        </p:nvSpPr>
        <p:spPr>
          <a:xfrm>
            <a:off x="2758213" y="2625328"/>
            <a:ext cx="1283587"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A.8.8 (الثغرات)</a:t>
            </a:r>
            <a:endParaRPr lang="en-US" sz="800" dirty="0"/>
          </a:p>
        </p:txBody>
      </p:sp>
      <p:sp>
        <p:nvSpPr>
          <p:cNvPr id="57" name="Text 54"/>
          <p:cNvSpPr/>
          <p:nvPr/>
        </p:nvSpPr>
        <p:spPr>
          <a:xfrm>
            <a:off x="285750" y="2625328"/>
            <a:ext cx="2472463" cy="403622"/>
          </a:xfrm>
          <a:prstGeom prst="rect">
            <a:avLst/>
          </a:prstGeom>
          <a:noFill/>
          <a:ln/>
        </p:spPr>
        <p:txBody>
          <a:bodyPr wrap="squar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فحص شهري ومعالجة خلال 72 ساعة للحرج.</a:t>
            </a:r>
            <a:endParaRPr lang="en-US" sz="800" dirty="0"/>
          </a:p>
        </p:txBody>
      </p:sp>
      <p:sp>
        <p:nvSpPr>
          <p:cNvPr id="58" name="Text 55"/>
          <p:cNvSpPr/>
          <p:nvPr/>
        </p:nvSpPr>
        <p:spPr>
          <a:xfrm>
            <a:off x="4041800" y="3028950"/>
            <a:ext cx="1258863"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تعطل الخدمة</a:t>
            </a:r>
            <a:endParaRPr lang="en-US" sz="800" dirty="0"/>
          </a:p>
        </p:txBody>
      </p:sp>
      <p:sp>
        <p:nvSpPr>
          <p:cNvPr id="59" name="Text 56"/>
          <p:cNvSpPr/>
          <p:nvPr/>
        </p:nvSpPr>
        <p:spPr>
          <a:xfrm>
            <a:off x="2758213" y="3028950"/>
            <a:ext cx="1283587" cy="403622"/>
          </a:xfrm>
          <a:prstGeom prst="rect">
            <a:avLst/>
          </a:prstGeom>
          <a:noFill/>
          <a:ln/>
        </p:spPr>
        <p:txBody>
          <a:bodyPr wrap="non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A.5.30 (الاستمرارية)</a:t>
            </a:r>
            <a:endParaRPr lang="en-US" sz="800" dirty="0"/>
          </a:p>
        </p:txBody>
      </p:sp>
      <p:sp>
        <p:nvSpPr>
          <p:cNvPr id="60" name="Text 57"/>
          <p:cNvSpPr/>
          <p:nvPr/>
        </p:nvSpPr>
        <p:spPr>
          <a:xfrm>
            <a:off x="285750" y="3028950"/>
            <a:ext cx="2472463" cy="403622"/>
          </a:xfrm>
          <a:prstGeom prst="rect">
            <a:avLst/>
          </a:prstGeom>
          <a:noFill/>
          <a:ln/>
        </p:spPr>
        <p:txBody>
          <a:bodyPr wrap="square" lIns="102108" tIns="102108" rIns="102108" bIns="102108" rtlCol="0" anchor="ctr">
            <a:spAutoFit/>
          </a:bodyPr>
          <a:lstStyle/>
          <a:p>
            <a:pPr algn="l" indent="0" marL="0">
              <a:buNone/>
            </a:pPr>
            <a:r>
              <a:rPr lang="en-US" sz="800" dirty="0">
                <a:solidFill>
                  <a:srgbClr val="0F172A"/>
                </a:solidFill>
                <a:latin typeface="Noto Sans Arabic" pitchFamily="34" charset="0"/>
                <a:ea typeface="Noto Sans Arabic" pitchFamily="34" charset="-122"/>
                <a:cs typeface="Noto Sans Arabic" pitchFamily="34" charset="-120"/>
              </a:rPr>
              <a:t>تفعيل مركز التعافي في جدة (DR).</a:t>
            </a:r>
            <a:endParaRPr lang="en-US" sz="800" dirty="0"/>
          </a:p>
        </p:txBody>
      </p:sp>
      <p:sp>
        <p:nvSpPr>
          <p:cNvPr id="61" name="Text 58"/>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62" name="Text 59"/>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517922"/>
          </a:xfrm>
          <a:prstGeom prst="rect">
            <a:avLst/>
          </a:prstGeom>
          <a:solidFill>
            <a:srgbClr val="000000">
              <a:alpha val="0"/>
            </a:srgbClr>
          </a:solidFill>
          <a:ln/>
        </p:spPr>
      </p:sp>
      <p:sp>
        <p:nvSpPr>
          <p:cNvPr id="4" name="Shape 1"/>
          <p:cNvSpPr/>
          <p:nvPr/>
        </p:nvSpPr>
        <p:spPr>
          <a:xfrm>
            <a:off x="285750" y="789384"/>
            <a:ext cx="8572500" cy="14288"/>
          </a:xfrm>
          <a:prstGeom prst="rect">
            <a:avLst/>
          </a:prstGeom>
          <a:solidFill>
            <a:srgbClr val="8B5CF6"/>
          </a:solidFill>
          <a:ln/>
        </p:spPr>
      </p:sp>
      <p:sp>
        <p:nvSpPr>
          <p:cNvPr id="5" name="Text 2"/>
          <p:cNvSpPr/>
          <p:nvPr/>
        </p:nvSpPr>
        <p:spPr>
          <a:xfrm>
            <a:off x="285750" y="285750"/>
            <a:ext cx="8572500" cy="517922"/>
          </a:xfrm>
          <a:prstGeom prst="rect">
            <a:avLst/>
          </a:prstGeom>
          <a:noFill/>
          <a:ln/>
        </p:spPr>
        <p:txBody>
          <a:bodyPr wrap="square" lIns="0" tIns="0" rIns="0" bIns="85090" rtlCol="0" anchor="t">
            <a:spAutoFit/>
          </a:bodyPr>
          <a:lstStyle/>
          <a:p>
            <a:pPr algn="l" indent="0" marL="0">
              <a:buNone/>
            </a:pPr>
            <a:r>
              <a:rPr lang="en-US" sz="1600" b="1" dirty="0">
                <a:solidFill>
                  <a:srgbClr val="0F172A"/>
                </a:solidFill>
                <a:latin typeface="Noto Kufi Arabic Bold" pitchFamily="34" charset="0"/>
                <a:ea typeface="Noto Kufi Arabic Bold" pitchFamily="34" charset="-122"/>
                <a:cs typeface="Noto Kufi Arabic Bold" pitchFamily="34" charset="-120"/>
              </a:rPr>
              <a:t>التشغيل الآمن والاستجابة للحوادث</a:t>
            </a:r>
            <a:endParaRPr lang="en-US" sz="1600" dirty="0"/>
          </a:p>
        </p:txBody>
      </p:sp>
      <p:sp>
        <p:nvSpPr>
          <p:cNvPr id="6" name="Shape 3"/>
          <p:cNvSpPr/>
          <p:nvPr/>
        </p:nvSpPr>
        <p:spPr>
          <a:xfrm>
            <a:off x="4714875" y="1075134"/>
            <a:ext cx="4143375" cy="3271838"/>
          </a:xfrm>
          <a:prstGeom prst="rect">
            <a:avLst/>
          </a:prstGeom>
          <a:solidFill>
            <a:srgbClr val="FFFFFF"/>
          </a:solidFill>
          <a:ln/>
        </p:spPr>
      </p:sp>
      <p:sp>
        <p:nvSpPr>
          <p:cNvPr id="7" name="Shape 4"/>
          <p:cNvSpPr/>
          <p:nvPr/>
        </p:nvSpPr>
        <p:spPr>
          <a:xfrm>
            <a:off x="4714875" y="1075134"/>
            <a:ext cx="4143375" cy="28575"/>
          </a:xfrm>
          <a:prstGeom prst="rect">
            <a:avLst/>
          </a:prstGeom>
          <a:solidFill>
            <a:srgbClr val="8B5CF6"/>
          </a:solidFill>
          <a:ln/>
        </p:spPr>
      </p:sp>
      <p:sp>
        <p:nvSpPr>
          <p:cNvPr id="8" name="Shape 5"/>
          <p:cNvSpPr/>
          <p:nvPr/>
        </p:nvSpPr>
        <p:spPr>
          <a:xfrm>
            <a:off x="8851106" y="1075134"/>
            <a:ext cx="7144" cy="3271838"/>
          </a:xfrm>
          <a:prstGeom prst="rect">
            <a:avLst/>
          </a:prstGeom>
          <a:solidFill>
            <a:srgbClr val="E2E8F0"/>
          </a:solidFill>
          <a:ln/>
        </p:spPr>
      </p:sp>
      <p:sp>
        <p:nvSpPr>
          <p:cNvPr id="9" name="Shape 6"/>
          <p:cNvSpPr/>
          <p:nvPr/>
        </p:nvSpPr>
        <p:spPr>
          <a:xfrm>
            <a:off x="4714875" y="4339828"/>
            <a:ext cx="4143375" cy="7144"/>
          </a:xfrm>
          <a:prstGeom prst="rect">
            <a:avLst/>
          </a:prstGeom>
          <a:solidFill>
            <a:srgbClr val="E2E8F0"/>
          </a:solidFill>
          <a:ln/>
        </p:spPr>
      </p:sp>
      <p:sp>
        <p:nvSpPr>
          <p:cNvPr id="10" name="Shape 7"/>
          <p:cNvSpPr/>
          <p:nvPr/>
        </p:nvSpPr>
        <p:spPr>
          <a:xfrm>
            <a:off x="4714875" y="1075134"/>
            <a:ext cx="7144" cy="3271838"/>
          </a:xfrm>
          <a:prstGeom prst="rect">
            <a:avLst/>
          </a:prstGeom>
          <a:solidFill>
            <a:srgbClr val="E2E8F0"/>
          </a:solidFill>
          <a:ln/>
        </p:spPr>
      </p:sp>
      <p:sp>
        <p:nvSpPr>
          <p:cNvPr id="11" name="Text 8"/>
          <p:cNvSpPr/>
          <p:nvPr/>
        </p:nvSpPr>
        <p:spPr>
          <a:xfrm>
            <a:off x="4893469" y="1253728"/>
            <a:ext cx="3786188" cy="303609"/>
          </a:xfrm>
          <a:prstGeom prst="rect">
            <a:avLst/>
          </a:prstGeom>
          <a:noFill/>
          <a:ln/>
        </p:spPr>
        <p:txBody>
          <a:bodyPr wrap="square" lIns="0" tIns="0" rIns="0" bIns="0" rtlCol="0" anchor="t">
            <a:spAutoFit/>
          </a:bodyPr>
          <a:lstStyle/>
          <a:p>
            <a:pPr algn="l" indent="0" marL="0">
              <a:buNone/>
            </a:pPr>
            <a:r>
              <a:rPr lang="en-US" sz="1000" b="1" dirty="0">
                <a:solidFill>
                  <a:srgbClr val="0F172A"/>
                </a:solidFill>
                <a:latin typeface="Noto Sans Arabic Bold" pitchFamily="34" charset="0"/>
                <a:ea typeface="Noto Sans Arabic Bold" pitchFamily="34" charset="-122"/>
                <a:cs typeface="Noto Sans Arabic Bold" pitchFamily="34" charset="-120"/>
              </a:rPr>
              <a:t>إجراءات التشغيل الأساسية</a:t>
            </a:r>
            <a:endParaRPr lang="en-US" sz="1000" dirty="0"/>
          </a:p>
        </p:txBody>
      </p:sp>
      <p:sp>
        <p:nvSpPr>
          <p:cNvPr id="12" name="Text 9"/>
          <p:cNvSpPr/>
          <p:nvPr/>
        </p:nvSpPr>
        <p:spPr>
          <a:xfrm>
            <a:off x="6173316" y="1735931"/>
            <a:ext cx="2313459" cy="242888"/>
          </a:xfrm>
          <a:prstGeom prst="rect">
            <a:avLst/>
          </a:prstGeom>
          <a:noFill/>
          <a:ln/>
        </p:spPr>
        <p:txBody>
          <a:bodyPr wrap="square" lIns="0" tIns="0" rIns="0" bIns="0" rtlCol="0" anchor="t">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النسخ الاحتياطي والاستعادة (Veritas NetBackup).</a:t>
            </a:r>
            <a:endParaRPr lang="en-US" sz="850" dirty="0"/>
          </a:p>
        </p:txBody>
      </p:sp>
      <p:sp>
        <p:nvSpPr>
          <p:cNvPr id="13" name="Text 10"/>
          <p:cNvSpPr/>
          <p:nvPr/>
        </p:nvSpPr>
        <p:spPr>
          <a:xfrm>
            <a:off x="6848456" y="2121694"/>
            <a:ext cx="1638319" cy="242888"/>
          </a:xfrm>
          <a:prstGeom prst="rect">
            <a:avLst/>
          </a:prstGeom>
          <a:noFill/>
          <a:ln/>
        </p:spPr>
        <p:txBody>
          <a:bodyPr wrap="square" lIns="0" tIns="0" rIns="0" bIns="0" rtlCol="0" anchor="t">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إدارة التغيير والتثبيت في بيئة الإنتاج.</a:t>
            </a:r>
            <a:endParaRPr lang="en-US" sz="850" dirty="0"/>
          </a:p>
        </p:txBody>
      </p:sp>
      <p:sp>
        <p:nvSpPr>
          <p:cNvPr id="14" name="Text 11"/>
          <p:cNvSpPr/>
          <p:nvPr/>
        </p:nvSpPr>
        <p:spPr>
          <a:xfrm>
            <a:off x="7106748" y="2507456"/>
            <a:ext cx="1380027" cy="242888"/>
          </a:xfrm>
          <a:prstGeom prst="rect">
            <a:avLst/>
          </a:prstGeom>
          <a:noFill/>
          <a:ln/>
        </p:spPr>
        <p:txBody>
          <a:bodyPr wrap="square" lIns="0" tIns="0" rIns="0" bIns="0" rtlCol="0" anchor="t">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إدارة الثغرات التقنية (Qualys).</a:t>
            </a:r>
            <a:endParaRPr lang="en-US" sz="850" dirty="0"/>
          </a:p>
        </p:txBody>
      </p:sp>
      <p:sp>
        <p:nvSpPr>
          <p:cNvPr id="15" name="Text 12"/>
          <p:cNvSpPr/>
          <p:nvPr/>
        </p:nvSpPr>
        <p:spPr>
          <a:xfrm>
            <a:off x="6484739" y="2893219"/>
            <a:ext cx="2002036" cy="242888"/>
          </a:xfrm>
          <a:prstGeom prst="rect">
            <a:avLst/>
          </a:prstGeom>
          <a:noFill/>
          <a:ln/>
        </p:spPr>
        <p:txBody>
          <a:bodyPr wrap="square" lIns="0" tIns="0" rIns="0" bIns="0" rtlCol="0" anchor="t">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تأمين الإعدادات (Configuration Baseline).</a:t>
            </a:r>
            <a:endParaRPr lang="en-US" sz="850" dirty="0"/>
          </a:p>
        </p:txBody>
      </p:sp>
      <p:sp>
        <p:nvSpPr>
          <p:cNvPr id="16" name="Text 13"/>
          <p:cNvSpPr/>
          <p:nvPr/>
        </p:nvSpPr>
        <p:spPr>
          <a:xfrm>
            <a:off x="6976542" y="3278981"/>
            <a:ext cx="1510233" cy="242888"/>
          </a:xfrm>
          <a:prstGeom prst="rect">
            <a:avLst/>
          </a:prstGeom>
          <a:noFill/>
          <a:ln/>
        </p:spPr>
        <p:txBody>
          <a:bodyPr wrap="square" lIns="0" tIns="0" rIns="0" bIns="0" rtlCol="0" anchor="t">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المراقبة والتسجيل (SOC/SIEM).</a:t>
            </a:r>
            <a:endParaRPr lang="en-US" sz="850" dirty="0"/>
          </a:p>
        </p:txBody>
      </p:sp>
      <p:sp>
        <p:nvSpPr>
          <p:cNvPr id="17" name="Text 14"/>
          <p:cNvSpPr/>
          <p:nvPr/>
        </p:nvSpPr>
        <p:spPr>
          <a:xfrm>
            <a:off x="285750" y="1075134"/>
            <a:ext cx="4143375" cy="242888"/>
          </a:xfrm>
          <a:prstGeom prst="rect">
            <a:avLst/>
          </a:prstGeom>
          <a:noFill/>
          <a:ln/>
        </p:spPr>
        <p:txBody>
          <a:bodyPr wrap="square" lIns="0" tIns="0" rIns="0" bIns="0" rtlCol="0" anchor="t">
            <a:spAutoFit/>
          </a:bodyPr>
          <a:lstStyle/>
          <a:p>
            <a:pPr algn="ctr"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دورة الاستجابة للحوادث (A.5.26)</a:t>
            </a:r>
            <a:endParaRPr lang="en-US" sz="800" dirty="0"/>
          </a:p>
        </p:txBody>
      </p:sp>
      <p:sp>
        <p:nvSpPr>
          <p:cNvPr id="18" name="Shape 15"/>
          <p:cNvSpPr/>
          <p:nvPr/>
        </p:nvSpPr>
        <p:spPr>
          <a:xfrm>
            <a:off x="914400" y="1460897"/>
            <a:ext cx="2886075" cy="2886075"/>
          </a:xfrm>
          <a:prstGeom prst="ellipse">
            <a:avLst/>
          </a:prstGeom>
          <a:solidFill>
            <a:srgbClr val="F8FAFC"/>
          </a:solidFill>
          <a:ln w="18288">
            <a:solidFill>
              <a:srgbClr val="E2E8F0"/>
            </a:solidFill>
            <a:prstDash val="dash"/>
          </a:ln>
        </p:spPr>
      </p:sp>
      <p:sp>
        <p:nvSpPr>
          <p:cNvPr id="19" name="Shape 16"/>
          <p:cNvSpPr/>
          <p:nvPr/>
        </p:nvSpPr>
        <p:spPr>
          <a:xfrm>
            <a:off x="1902470" y="1603772"/>
            <a:ext cx="909935" cy="367903"/>
          </a:xfrm>
          <a:prstGeom prst="rect">
            <a:avLst/>
          </a:prstGeom>
          <a:solidFill>
            <a:srgbClr val="FFFFFF"/>
          </a:solidFill>
          <a:ln w="9144">
            <a:solidFill>
              <a:srgbClr val="8B5CF6"/>
            </a:solidFill>
            <a:prstDash val="solid"/>
          </a:ln>
        </p:spPr>
      </p:sp>
      <p:sp>
        <p:nvSpPr>
          <p:cNvPr id="20" name="Text 17"/>
          <p:cNvSpPr/>
          <p:nvPr/>
        </p:nvSpPr>
        <p:spPr>
          <a:xfrm>
            <a:off x="1902470" y="1603772"/>
            <a:ext cx="909935" cy="367903"/>
          </a:xfrm>
          <a:prstGeom prst="rect">
            <a:avLst/>
          </a:prstGeom>
          <a:noFill/>
          <a:ln/>
        </p:spPr>
        <p:txBody>
          <a:bodyPr wrap="none" lIns="127508" tIns="85090" rIns="127508" bIns="85090" rtlCol="0" anchor="t">
            <a:spAutoFit/>
          </a:bodyPr>
          <a:lstStyle/>
          <a:p>
            <a:pPr algn="ctr" indent="0" marL="0">
              <a:buNone/>
            </a:pPr>
            <a:r>
              <a:rPr lang="en-US" sz="700" b="1" dirty="0">
                <a:solidFill>
                  <a:srgbClr val="0F172A"/>
                </a:solidFill>
                <a:latin typeface="Noto Sans Arabic Bold" pitchFamily="34" charset="0"/>
                <a:ea typeface="Noto Sans Arabic Bold" pitchFamily="34" charset="-122"/>
                <a:cs typeface="Noto Sans Arabic Bold" pitchFamily="34" charset="-120"/>
              </a:rPr>
              <a:t>اكتشاف وتحليل</a:t>
            </a:r>
            <a:endParaRPr lang="en-US" sz="700" dirty="0"/>
          </a:p>
        </p:txBody>
      </p:sp>
      <p:sp>
        <p:nvSpPr>
          <p:cNvPr id="21" name="Shape 18"/>
          <p:cNvSpPr/>
          <p:nvPr/>
        </p:nvSpPr>
        <p:spPr>
          <a:xfrm>
            <a:off x="2904939" y="2532459"/>
            <a:ext cx="738374" cy="367903"/>
          </a:xfrm>
          <a:prstGeom prst="rect">
            <a:avLst/>
          </a:prstGeom>
          <a:solidFill>
            <a:srgbClr val="FFFFFF"/>
          </a:solidFill>
          <a:ln w="9144">
            <a:solidFill>
              <a:srgbClr val="8B5CF6"/>
            </a:solidFill>
            <a:prstDash val="solid"/>
          </a:ln>
        </p:spPr>
      </p:sp>
      <p:sp>
        <p:nvSpPr>
          <p:cNvPr id="22" name="Text 19"/>
          <p:cNvSpPr/>
          <p:nvPr/>
        </p:nvSpPr>
        <p:spPr>
          <a:xfrm>
            <a:off x="2904939" y="2532459"/>
            <a:ext cx="738374" cy="367903"/>
          </a:xfrm>
          <a:prstGeom prst="rect">
            <a:avLst/>
          </a:prstGeom>
          <a:noFill/>
          <a:ln/>
        </p:spPr>
        <p:txBody>
          <a:bodyPr wrap="none" lIns="127508" tIns="85090" rIns="127508" bIns="85090" rtlCol="0" anchor="t">
            <a:spAutoFit/>
          </a:bodyPr>
          <a:lstStyle/>
          <a:p>
            <a:pPr algn="ctr" indent="0" marL="0">
              <a:buNone/>
            </a:pPr>
            <a:r>
              <a:rPr lang="en-US" sz="700" b="1" dirty="0">
                <a:solidFill>
                  <a:srgbClr val="0F172A"/>
                </a:solidFill>
                <a:latin typeface="Noto Sans Arabic Bold" pitchFamily="34" charset="0"/>
                <a:ea typeface="Noto Sans Arabic Bold" pitchFamily="34" charset="-122"/>
                <a:cs typeface="Noto Sans Arabic Bold" pitchFamily="34" charset="-120"/>
              </a:rPr>
              <a:t>احتواء فوري</a:t>
            </a:r>
            <a:endParaRPr lang="en-US" sz="700" dirty="0"/>
          </a:p>
        </p:txBody>
      </p:sp>
      <p:sp>
        <p:nvSpPr>
          <p:cNvPr id="23" name="Shape 20"/>
          <p:cNvSpPr/>
          <p:nvPr/>
        </p:nvSpPr>
        <p:spPr>
          <a:xfrm>
            <a:off x="2240570" y="3593306"/>
            <a:ext cx="974117" cy="367903"/>
          </a:xfrm>
          <a:prstGeom prst="rect">
            <a:avLst/>
          </a:prstGeom>
          <a:solidFill>
            <a:srgbClr val="FFFFFF"/>
          </a:solidFill>
          <a:ln w="9144">
            <a:solidFill>
              <a:srgbClr val="8B5CF6"/>
            </a:solidFill>
            <a:prstDash val="solid"/>
          </a:ln>
        </p:spPr>
      </p:sp>
      <p:sp>
        <p:nvSpPr>
          <p:cNvPr id="24" name="Text 21"/>
          <p:cNvSpPr/>
          <p:nvPr/>
        </p:nvSpPr>
        <p:spPr>
          <a:xfrm>
            <a:off x="2240570" y="3593306"/>
            <a:ext cx="974117" cy="367903"/>
          </a:xfrm>
          <a:prstGeom prst="rect">
            <a:avLst/>
          </a:prstGeom>
          <a:noFill/>
          <a:ln/>
        </p:spPr>
        <p:txBody>
          <a:bodyPr wrap="none" lIns="127508" tIns="85090" rIns="127508" bIns="85090" rtlCol="0" anchor="t">
            <a:spAutoFit/>
          </a:bodyPr>
          <a:lstStyle/>
          <a:p>
            <a:pPr algn="ctr" indent="0" marL="0">
              <a:buNone/>
            </a:pPr>
            <a:r>
              <a:rPr lang="en-US" sz="700" b="1" dirty="0">
                <a:solidFill>
                  <a:srgbClr val="0F172A"/>
                </a:solidFill>
                <a:latin typeface="Noto Sans Arabic Bold" pitchFamily="34" charset="0"/>
                <a:ea typeface="Noto Sans Arabic Bold" pitchFamily="34" charset="-122"/>
                <a:cs typeface="Noto Sans Arabic Bold" pitchFamily="34" charset="-120"/>
              </a:rPr>
              <a:t>استئصال السبب</a:t>
            </a:r>
            <a:endParaRPr lang="en-US" sz="700" dirty="0"/>
          </a:p>
        </p:txBody>
      </p:sp>
      <p:sp>
        <p:nvSpPr>
          <p:cNvPr id="25" name="Shape 22"/>
          <p:cNvSpPr/>
          <p:nvPr/>
        </p:nvSpPr>
        <p:spPr>
          <a:xfrm>
            <a:off x="1500188" y="3593306"/>
            <a:ext cx="827503" cy="367903"/>
          </a:xfrm>
          <a:prstGeom prst="rect">
            <a:avLst/>
          </a:prstGeom>
          <a:solidFill>
            <a:srgbClr val="FFFFFF"/>
          </a:solidFill>
          <a:ln w="9144">
            <a:solidFill>
              <a:srgbClr val="8B5CF6"/>
            </a:solidFill>
            <a:prstDash val="solid"/>
          </a:ln>
        </p:spPr>
      </p:sp>
      <p:sp>
        <p:nvSpPr>
          <p:cNvPr id="26" name="Text 23"/>
          <p:cNvSpPr/>
          <p:nvPr/>
        </p:nvSpPr>
        <p:spPr>
          <a:xfrm>
            <a:off x="1500188" y="3593306"/>
            <a:ext cx="827503" cy="367903"/>
          </a:xfrm>
          <a:prstGeom prst="rect">
            <a:avLst/>
          </a:prstGeom>
          <a:noFill/>
          <a:ln/>
        </p:spPr>
        <p:txBody>
          <a:bodyPr wrap="none" lIns="127508" tIns="85090" rIns="127508" bIns="85090" rtlCol="0" anchor="t">
            <a:spAutoFit/>
          </a:bodyPr>
          <a:lstStyle/>
          <a:p>
            <a:pPr algn="ctr" indent="0" marL="0">
              <a:buNone/>
            </a:pPr>
            <a:r>
              <a:rPr lang="en-US" sz="700" b="1" dirty="0">
                <a:solidFill>
                  <a:srgbClr val="0F172A"/>
                </a:solidFill>
                <a:latin typeface="Noto Sans Arabic Bold" pitchFamily="34" charset="0"/>
                <a:ea typeface="Noto Sans Arabic Bold" pitchFamily="34" charset="-122"/>
                <a:cs typeface="Noto Sans Arabic Bold" pitchFamily="34" charset="-120"/>
              </a:rPr>
              <a:t>تعافي الأنظمة</a:t>
            </a:r>
            <a:endParaRPr lang="en-US" sz="700" dirty="0"/>
          </a:p>
        </p:txBody>
      </p:sp>
      <p:sp>
        <p:nvSpPr>
          <p:cNvPr id="27" name="Shape 24"/>
          <p:cNvSpPr/>
          <p:nvPr/>
        </p:nvSpPr>
        <p:spPr>
          <a:xfrm>
            <a:off x="1071563" y="2532459"/>
            <a:ext cx="918642" cy="367903"/>
          </a:xfrm>
          <a:prstGeom prst="rect">
            <a:avLst/>
          </a:prstGeom>
          <a:solidFill>
            <a:srgbClr val="FFFFFF"/>
          </a:solidFill>
          <a:ln w="9144">
            <a:solidFill>
              <a:srgbClr val="8B5CF6"/>
            </a:solidFill>
            <a:prstDash val="solid"/>
          </a:ln>
        </p:spPr>
      </p:sp>
      <p:sp>
        <p:nvSpPr>
          <p:cNvPr id="28" name="Text 25"/>
          <p:cNvSpPr/>
          <p:nvPr/>
        </p:nvSpPr>
        <p:spPr>
          <a:xfrm>
            <a:off x="1071563" y="2532459"/>
            <a:ext cx="918642" cy="367903"/>
          </a:xfrm>
          <a:prstGeom prst="rect">
            <a:avLst/>
          </a:prstGeom>
          <a:noFill/>
          <a:ln/>
        </p:spPr>
        <p:txBody>
          <a:bodyPr wrap="none" lIns="127508" tIns="85090" rIns="127508" bIns="85090" rtlCol="0" anchor="t">
            <a:spAutoFit/>
          </a:bodyPr>
          <a:lstStyle/>
          <a:p>
            <a:pPr algn="ctr" indent="0" marL="0">
              <a:buNone/>
            </a:pPr>
            <a:r>
              <a:rPr lang="en-US" sz="700" b="1" dirty="0">
                <a:solidFill>
                  <a:srgbClr val="0F172A"/>
                </a:solidFill>
                <a:latin typeface="Noto Sans Arabic Bold" pitchFamily="34" charset="0"/>
                <a:ea typeface="Noto Sans Arabic Bold" pitchFamily="34" charset="-122"/>
                <a:cs typeface="Noto Sans Arabic Bold" pitchFamily="34" charset="-120"/>
              </a:rPr>
              <a:t>دروس مستفادة</a:t>
            </a:r>
            <a:endParaRPr lang="en-US" sz="700" dirty="0"/>
          </a:p>
        </p:txBody>
      </p:sp>
      <p:sp>
        <p:nvSpPr>
          <p:cNvPr id="29" name="Text 26"/>
          <p:cNvSpPr/>
          <p:nvPr/>
        </p:nvSpPr>
        <p:spPr>
          <a:xfrm>
            <a:off x="2219362" y="2709267"/>
            <a:ext cx="276206" cy="360759"/>
          </a:xfrm>
          <a:prstGeom prst="rect">
            <a:avLst/>
          </a:prstGeom>
          <a:noFill/>
          <a:ln/>
        </p:spPr>
        <p:txBody>
          <a:bodyPr wrap="none" lIns="0" tIns="0" rIns="0" bIns="0" rtlCol="0" anchor="t">
            <a:spAutoFit/>
          </a:bodyPr>
          <a:lstStyle/>
          <a:p>
            <a:pPr algn="ctr" indent="0" marL="0">
              <a:buNone/>
            </a:pPr>
            <a:r>
              <a:rPr lang="en-US" sz="1200" b="1" dirty="0">
                <a:solidFill>
                  <a:srgbClr val="8B5CF6"/>
                </a:solidFill>
                <a:latin typeface="Noto Sans Arabic Bold" pitchFamily="34" charset="0"/>
                <a:ea typeface="Noto Sans Arabic Bold" pitchFamily="34" charset="-122"/>
                <a:cs typeface="Noto Sans Arabic Bold" pitchFamily="34" charset="-120"/>
              </a:rPr>
              <a:t>IRT</a:t>
            </a:r>
            <a:endParaRPr lang="en-US" sz="1200" dirty="0"/>
          </a:p>
        </p:txBody>
      </p:sp>
      <p:sp>
        <p:nvSpPr>
          <p:cNvPr id="30" name="Text 27"/>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31" name="Text 28"/>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00025" y="200025"/>
            <a:ext cx="8743950" cy="291443"/>
          </a:xfrm>
          <a:prstGeom prst="rect">
            <a:avLst/>
          </a:prstGeom>
          <a:solidFill>
            <a:srgbClr val="000000">
              <a:alpha val="0"/>
            </a:srgbClr>
          </a:solidFill>
          <a:ln/>
        </p:spPr>
      </p:sp>
      <p:sp>
        <p:nvSpPr>
          <p:cNvPr id="4" name="Shape 1"/>
          <p:cNvSpPr/>
          <p:nvPr/>
        </p:nvSpPr>
        <p:spPr>
          <a:xfrm>
            <a:off x="200025" y="477180"/>
            <a:ext cx="8743950" cy="14288"/>
          </a:xfrm>
          <a:prstGeom prst="rect">
            <a:avLst/>
          </a:prstGeom>
          <a:solidFill>
            <a:srgbClr val="8B5CF6"/>
          </a:solidFill>
          <a:ln/>
        </p:spPr>
      </p:sp>
      <p:sp>
        <p:nvSpPr>
          <p:cNvPr id="5" name="Text 2"/>
          <p:cNvSpPr/>
          <p:nvPr/>
        </p:nvSpPr>
        <p:spPr>
          <a:xfrm>
            <a:off x="200025" y="200025"/>
            <a:ext cx="8743950" cy="291443"/>
          </a:xfrm>
          <a:prstGeom prst="rect">
            <a:avLst/>
          </a:prstGeom>
          <a:noFill/>
          <a:ln/>
        </p:spPr>
        <p:txBody>
          <a:bodyPr wrap="none" lIns="0" tIns="0" rIns="0" bIns="68072" rtlCol="0" anchor="t">
            <a:spAutoFit/>
          </a:bodyPr>
          <a:lstStyle/>
          <a:p>
            <a:pPr algn="l" indent="0" marL="0">
              <a:lnSpc>
                <a:spcPct val="88000"/>
              </a:lnSpc>
              <a:buNone/>
            </a:pPr>
            <a:r>
              <a:rPr lang="en-US" sz="1400" b="1" dirty="0">
                <a:solidFill>
                  <a:srgbClr val="0F172A"/>
                </a:solidFill>
                <a:latin typeface="Noto Kufi Arabic Bold" pitchFamily="34" charset="0"/>
                <a:ea typeface="Noto Kufi Arabic Bold" pitchFamily="34" charset="-122"/>
                <a:cs typeface="Noto Kufi Arabic Bold" pitchFamily="34" charset="-120"/>
              </a:rPr>
              <a:t>استمرارية الأعمال والتعافي من الكوارث</a:t>
            </a:r>
            <a:endParaRPr lang="en-US" sz="1400" dirty="0"/>
          </a:p>
        </p:txBody>
      </p:sp>
      <p:sp>
        <p:nvSpPr>
          <p:cNvPr id="6" name="Shape 3"/>
          <p:cNvSpPr/>
          <p:nvPr/>
        </p:nvSpPr>
        <p:spPr>
          <a:xfrm>
            <a:off x="4636294" y="562905"/>
            <a:ext cx="4307681" cy="1132954"/>
          </a:xfrm>
          <a:prstGeom prst="rect">
            <a:avLst/>
          </a:prstGeom>
          <a:solidFill>
            <a:srgbClr val="FFFFFF"/>
          </a:solidFill>
          <a:ln/>
        </p:spPr>
      </p:sp>
      <p:sp>
        <p:nvSpPr>
          <p:cNvPr id="7" name="Shape 4"/>
          <p:cNvSpPr/>
          <p:nvPr/>
        </p:nvSpPr>
        <p:spPr>
          <a:xfrm>
            <a:off x="4636294" y="562905"/>
            <a:ext cx="4307681" cy="28575"/>
          </a:xfrm>
          <a:prstGeom prst="rect">
            <a:avLst/>
          </a:prstGeom>
          <a:solidFill>
            <a:srgbClr val="8B5CF6"/>
          </a:solidFill>
          <a:ln/>
        </p:spPr>
      </p:sp>
      <p:sp>
        <p:nvSpPr>
          <p:cNvPr id="8" name="Shape 5"/>
          <p:cNvSpPr/>
          <p:nvPr/>
        </p:nvSpPr>
        <p:spPr>
          <a:xfrm>
            <a:off x="8936831" y="562905"/>
            <a:ext cx="7144" cy="1132954"/>
          </a:xfrm>
          <a:prstGeom prst="rect">
            <a:avLst/>
          </a:prstGeom>
          <a:solidFill>
            <a:srgbClr val="E2E8F0"/>
          </a:solidFill>
          <a:ln/>
        </p:spPr>
      </p:sp>
      <p:sp>
        <p:nvSpPr>
          <p:cNvPr id="9" name="Shape 6"/>
          <p:cNvSpPr/>
          <p:nvPr/>
        </p:nvSpPr>
        <p:spPr>
          <a:xfrm>
            <a:off x="4636294" y="1688716"/>
            <a:ext cx="4307681" cy="7144"/>
          </a:xfrm>
          <a:prstGeom prst="rect">
            <a:avLst/>
          </a:prstGeom>
          <a:solidFill>
            <a:srgbClr val="E2E8F0"/>
          </a:solidFill>
          <a:ln/>
        </p:spPr>
      </p:sp>
      <p:sp>
        <p:nvSpPr>
          <p:cNvPr id="10" name="Shape 7"/>
          <p:cNvSpPr/>
          <p:nvPr/>
        </p:nvSpPr>
        <p:spPr>
          <a:xfrm>
            <a:off x="4636294" y="562905"/>
            <a:ext cx="7144" cy="1132954"/>
          </a:xfrm>
          <a:prstGeom prst="rect">
            <a:avLst/>
          </a:prstGeom>
          <a:solidFill>
            <a:srgbClr val="E2E8F0"/>
          </a:solidFill>
          <a:ln/>
        </p:spPr>
      </p:sp>
      <p:sp>
        <p:nvSpPr>
          <p:cNvPr id="11" name="Text 8"/>
          <p:cNvSpPr/>
          <p:nvPr/>
        </p:nvSpPr>
        <p:spPr>
          <a:xfrm>
            <a:off x="4764881" y="691493"/>
            <a:ext cx="4050506" cy="271463"/>
          </a:xfrm>
          <a:prstGeom prst="rect">
            <a:avLst/>
          </a:prstGeom>
          <a:noFill/>
          <a:ln/>
        </p:spPr>
        <p:txBody>
          <a:bodyPr wrap="squar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RTO المستهدف</a:t>
            </a:r>
            <a:endParaRPr lang="en-US" sz="900" dirty="0"/>
          </a:p>
        </p:txBody>
      </p:sp>
      <p:sp>
        <p:nvSpPr>
          <p:cNvPr id="12" name="Text 9"/>
          <p:cNvSpPr/>
          <p:nvPr/>
        </p:nvSpPr>
        <p:spPr>
          <a:xfrm>
            <a:off x="4764881" y="1020105"/>
            <a:ext cx="4050506" cy="342900"/>
          </a:xfrm>
          <a:prstGeom prst="rect">
            <a:avLst/>
          </a:prstGeom>
          <a:noFill/>
          <a:ln/>
        </p:spPr>
        <p:txBody>
          <a:bodyPr wrap="none" lIns="0" tIns="0" rIns="0" bIns="0" rtlCol="0" anchor="t">
            <a:spAutoFit/>
          </a:bodyPr>
          <a:lstStyle/>
          <a:p>
            <a:pPr algn="ctr" indent="0" marL="0">
              <a:lnSpc>
                <a:spcPct val="80000"/>
              </a:lnSpc>
              <a:buNone/>
            </a:pPr>
            <a:r>
              <a:rPr lang="en-US" sz="2450" b="1" dirty="0">
                <a:solidFill>
                  <a:srgbClr val="8B5CF6"/>
                </a:solidFill>
                <a:latin typeface="Noto Sans Arabic Bold" pitchFamily="34" charset="0"/>
                <a:ea typeface="Noto Sans Arabic Bold" pitchFamily="34" charset="-122"/>
                <a:cs typeface="Noto Sans Arabic Bold" pitchFamily="34" charset="-120"/>
              </a:rPr>
              <a:t>2 ساعة</a:t>
            </a:r>
            <a:endParaRPr lang="en-US" sz="2450" dirty="0"/>
          </a:p>
        </p:txBody>
      </p:sp>
      <p:sp>
        <p:nvSpPr>
          <p:cNvPr id="13" name="Text 10"/>
          <p:cNvSpPr/>
          <p:nvPr/>
        </p:nvSpPr>
        <p:spPr>
          <a:xfrm>
            <a:off x="4764881" y="1420155"/>
            <a:ext cx="4050506" cy="111398"/>
          </a:xfrm>
          <a:prstGeom prst="rect">
            <a:avLst/>
          </a:prstGeom>
          <a:noFill/>
          <a:ln/>
        </p:spPr>
        <p:txBody>
          <a:bodyPr wrap="none" lIns="0" tIns="0" rIns="0" bIns="0" rtlCol="0" anchor="t">
            <a:spAutoFit/>
          </a:bodyPr>
          <a:lstStyle/>
          <a:p>
            <a:pPr algn="ctr" indent="0" marL="0">
              <a:lnSpc>
                <a:spcPct val="96000"/>
              </a:lnSpc>
              <a:buNone/>
            </a:pPr>
            <a:r>
              <a:rPr lang="en-US" sz="650" dirty="0">
                <a:solidFill>
                  <a:srgbClr val="64748B"/>
                </a:solidFill>
                <a:latin typeface="Noto Sans Arabic" pitchFamily="34" charset="0"/>
                <a:ea typeface="Noto Sans Arabic" pitchFamily="34" charset="-122"/>
                <a:cs typeface="Noto Sans Arabic" pitchFamily="34" charset="-120"/>
              </a:rPr>
              <a:t>الزمن الأقصى لاستعادة الخدمات المصرفية الرقمية.</a:t>
            </a:r>
            <a:endParaRPr lang="en-US" sz="650" dirty="0"/>
          </a:p>
        </p:txBody>
      </p:sp>
      <p:sp>
        <p:nvSpPr>
          <p:cNvPr id="14" name="Shape 11"/>
          <p:cNvSpPr/>
          <p:nvPr/>
        </p:nvSpPr>
        <p:spPr>
          <a:xfrm>
            <a:off x="200025" y="562905"/>
            <a:ext cx="4307681" cy="1132954"/>
          </a:xfrm>
          <a:prstGeom prst="rect">
            <a:avLst/>
          </a:prstGeom>
          <a:solidFill>
            <a:srgbClr val="FFFFFF"/>
          </a:solidFill>
          <a:ln/>
        </p:spPr>
      </p:sp>
      <p:sp>
        <p:nvSpPr>
          <p:cNvPr id="15" name="Shape 12"/>
          <p:cNvSpPr/>
          <p:nvPr/>
        </p:nvSpPr>
        <p:spPr>
          <a:xfrm>
            <a:off x="200025" y="562905"/>
            <a:ext cx="4307681" cy="28575"/>
          </a:xfrm>
          <a:prstGeom prst="rect">
            <a:avLst/>
          </a:prstGeom>
          <a:solidFill>
            <a:srgbClr val="8B5CF6"/>
          </a:solidFill>
          <a:ln/>
        </p:spPr>
      </p:sp>
      <p:sp>
        <p:nvSpPr>
          <p:cNvPr id="16" name="Shape 13"/>
          <p:cNvSpPr/>
          <p:nvPr/>
        </p:nvSpPr>
        <p:spPr>
          <a:xfrm>
            <a:off x="4500563" y="562905"/>
            <a:ext cx="7144" cy="1132954"/>
          </a:xfrm>
          <a:prstGeom prst="rect">
            <a:avLst/>
          </a:prstGeom>
          <a:solidFill>
            <a:srgbClr val="E2E8F0"/>
          </a:solidFill>
          <a:ln/>
        </p:spPr>
      </p:sp>
      <p:sp>
        <p:nvSpPr>
          <p:cNvPr id="17" name="Shape 14"/>
          <p:cNvSpPr/>
          <p:nvPr/>
        </p:nvSpPr>
        <p:spPr>
          <a:xfrm>
            <a:off x="200025" y="1688716"/>
            <a:ext cx="4307681" cy="7144"/>
          </a:xfrm>
          <a:prstGeom prst="rect">
            <a:avLst/>
          </a:prstGeom>
          <a:solidFill>
            <a:srgbClr val="E2E8F0"/>
          </a:solidFill>
          <a:ln/>
        </p:spPr>
      </p:sp>
      <p:sp>
        <p:nvSpPr>
          <p:cNvPr id="18" name="Shape 15"/>
          <p:cNvSpPr/>
          <p:nvPr/>
        </p:nvSpPr>
        <p:spPr>
          <a:xfrm>
            <a:off x="200025" y="562905"/>
            <a:ext cx="7144" cy="1132954"/>
          </a:xfrm>
          <a:prstGeom prst="rect">
            <a:avLst/>
          </a:prstGeom>
          <a:solidFill>
            <a:srgbClr val="E2E8F0"/>
          </a:solidFill>
          <a:ln/>
        </p:spPr>
      </p:sp>
      <p:sp>
        <p:nvSpPr>
          <p:cNvPr id="19" name="Text 16"/>
          <p:cNvSpPr/>
          <p:nvPr/>
        </p:nvSpPr>
        <p:spPr>
          <a:xfrm>
            <a:off x="328613" y="691493"/>
            <a:ext cx="4050506" cy="271463"/>
          </a:xfrm>
          <a:prstGeom prst="rect">
            <a:avLst/>
          </a:prstGeom>
          <a:noFill/>
          <a:ln/>
        </p:spPr>
        <p:txBody>
          <a:bodyPr wrap="square" lIns="0" tIns="0" rIns="0" bIns="0" rtlCol="0" anchor="t">
            <a:spAutoFit/>
          </a:bodyPr>
          <a:lstStyle/>
          <a:p>
            <a:pPr algn="ctr" indent="0" marL="0">
              <a:buNone/>
            </a:pPr>
            <a:r>
              <a:rPr lang="en-US" sz="900" b="1" dirty="0">
                <a:solidFill>
                  <a:srgbClr val="0F172A"/>
                </a:solidFill>
                <a:latin typeface="Noto Sans Arabic Bold" pitchFamily="34" charset="0"/>
                <a:ea typeface="Noto Sans Arabic Bold" pitchFamily="34" charset="-122"/>
                <a:cs typeface="Noto Sans Arabic Bold" pitchFamily="34" charset="-120"/>
              </a:rPr>
              <a:t>RPO المستهدف</a:t>
            </a:r>
            <a:endParaRPr lang="en-US" sz="900" dirty="0"/>
          </a:p>
        </p:txBody>
      </p:sp>
      <p:sp>
        <p:nvSpPr>
          <p:cNvPr id="20" name="Text 17"/>
          <p:cNvSpPr/>
          <p:nvPr/>
        </p:nvSpPr>
        <p:spPr>
          <a:xfrm>
            <a:off x="328613" y="1020105"/>
            <a:ext cx="4050506" cy="342900"/>
          </a:xfrm>
          <a:prstGeom prst="rect">
            <a:avLst/>
          </a:prstGeom>
          <a:noFill/>
          <a:ln/>
        </p:spPr>
        <p:txBody>
          <a:bodyPr wrap="none" lIns="0" tIns="0" rIns="0" bIns="0" rtlCol="0" anchor="t">
            <a:spAutoFit/>
          </a:bodyPr>
          <a:lstStyle/>
          <a:p>
            <a:pPr algn="ctr" indent="0" marL="0">
              <a:lnSpc>
                <a:spcPct val="80000"/>
              </a:lnSpc>
              <a:buNone/>
            </a:pPr>
            <a:r>
              <a:rPr lang="en-US" sz="2450" b="1" dirty="0">
                <a:solidFill>
                  <a:srgbClr val="8B5CF6"/>
                </a:solidFill>
                <a:latin typeface="Noto Sans Arabic Bold" pitchFamily="34" charset="0"/>
                <a:ea typeface="Noto Sans Arabic Bold" pitchFamily="34" charset="-122"/>
                <a:cs typeface="Noto Sans Arabic Bold" pitchFamily="34" charset="-120"/>
              </a:rPr>
              <a:t>15 دقيقة</a:t>
            </a:r>
            <a:endParaRPr lang="en-US" sz="2450" dirty="0"/>
          </a:p>
        </p:txBody>
      </p:sp>
      <p:sp>
        <p:nvSpPr>
          <p:cNvPr id="21" name="Text 18"/>
          <p:cNvSpPr/>
          <p:nvPr/>
        </p:nvSpPr>
        <p:spPr>
          <a:xfrm>
            <a:off x="328613" y="1420155"/>
            <a:ext cx="4050506" cy="111398"/>
          </a:xfrm>
          <a:prstGeom prst="rect">
            <a:avLst/>
          </a:prstGeom>
          <a:noFill/>
          <a:ln/>
        </p:spPr>
        <p:txBody>
          <a:bodyPr wrap="none" lIns="0" tIns="0" rIns="0" bIns="0" rtlCol="0" anchor="t">
            <a:spAutoFit/>
          </a:bodyPr>
          <a:lstStyle/>
          <a:p>
            <a:pPr algn="ctr" indent="0" marL="0">
              <a:lnSpc>
                <a:spcPct val="96000"/>
              </a:lnSpc>
              <a:buNone/>
            </a:pPr>
            <a:r>
              <a:rPr lang="en-US" sz="650" dirty="0">
                <a:solidFill>
                  <a:srgbClr val="64748B"/>
                </a:solidFill>
                <a:latin typeface="Noto Sans Arabic" pitchFamily="34" charset="0"/>
                <a:ea typeface="Noto Sans Arabic" pitchFamily="34" charset="-122"/>
                <a:cs typeface="Noto Sans Arabic" pitchFamily="34" charset="-120"/>
              </a:rPr>
              <a:t>الحد الأقصى المقبول لفقدان البيانات المعاملاتية.</a:t>
            </a:r>
            <a:endParaRPr lang="en-US" sz="650" dirty="0"/>
          </a:p>
        </p:txBody>
      </p:sp>
      <p:sp>
        <p:nvSpPr>
          <p:cNvPr id="22" name="Shape 19"/>
          <p:cNvSpPr/>
          <p:nvPr/>
        </p:nvSpPr>
        <p:spPr>
          <a:xfrm>
            <a:off x="200025" y="1788728"/>
            <a:ext cx="8743950" cy="934380"/>
          </a:xfrm>
          <a:prstGeom prst="rect">
            <a:avLst/>
          </a:prstGeom>
          <a:solidFill>
            <a:srgbClr val="F8FAFC"/>
          </a:solidFill>
          <a:ln/>
        </p:spPr>
      </p:sp>
      <p:sp>
        <p:nvSpPr>
          <p:cNvPr id="23" name="Text 20"/>
          <p:cNvSpPr/>
          <p:nvPr/>
        </p:nvSpPr>
        <p:spPr>
          <a:xfrm>
            <a:off x="314325" y="1903028"/>
            <a:ext cx="8515350" cy="242888"/>
          </a:xfrm>
          <a:prstGeom prst="rect">
            <a:avLst/>
          </a:prstGeom>
          <a:noFill/>
          <a:ln/>
        </p:spPr>
        <p:txBody>
          <a:bodyPr wrap="square" lIns="0" tIns="0" rIns="0" bIns="0" rtlCol="0" anchor="t">
            <a:spAutoFit/>
          </a:bodyPr>
          <a:lstStyle/>
          <a:p>
            <a:pPr algn="l" indent="0" marL="0">
              <a:buNone/>
            </a:pPr>
            <a:r>
              <a:rPr lang="en-US" sz="800" b="1" dirty="0">
                <a:solidFill>
                  <a:srgbClr val="0F172A"/>
                </a:solidFill>
                <a:latin typeface="Noto Sans Arabic Bold" pitchFamily="34" charset="0"/>
                <a:ea typeface="Noto Sans Arabic Bold" pitchFamily="34" charset="-122"/>
                <a:cs typeface="Noto Sans Arabic Bold" pitchFamily="34" charset="-120"/>
              </a:rPr>
              <a:t>مسار التعافي التقني (مركز جدة)</a:t>
            </a:r>
            <a:endParaRPr lang="en-US" sz="800" dirty="0"/>
          </a:p>
        </p:txBody>
      </p:sp>
      <p:sp>
        <p:nvSpPr>
          <p:cNvPr id="24" name="Text 21"/>
          <p:cNvSpPr/>
          <p:nvPr/>
        </p:nvSpPr>
        <p:spPr>
          <a:xfrm>
            <a:off x="7169479" y="2488816"/>
            <a:ext cx="1660196" cy="119993"/>
          </a:xfrm>
          <a:prstGeom prst="rect">
            <a:avLst/>
          </a:prstGeom>
          <a:noFill/>
          <a:ln/>
        </p:spPr>
        <p:txBody>
          <a:bodyPr wrap="none" lIns="0" tIns="0" rIns="0" bIns="0" rtlCol="0" anchor="t">
            <a:spAutoFit/>
          </a:bodyPr>
          <a:lstStyle/>
          <a:p>
            <a:pPr algn="ctr" indent="0" marL="0">
              <a:lnSpc>
                <a:spcPct val="96000"/>
              </a:lnSpc>
              <a:buNone/>
            </a:pPr>
            <a:r>
              <a:rPr lang="en-US" sz="750" dirty="0">
                <a:solidFill>
                  <a:srgbClr val="0F172A"/>
                </a:solidFill>
                <a:latin typeface="Noto Sans Arabic" pitchFamily="34" charset="0"/>
                <a:ea typeface="Noto Sans Arabic" pitchFamily="34" charset="-122"/>
                <a:cs typeface="Noto Sans Arabic" pitchFamily="34" charset="-120"/>
              </a:rPr>
              <a:t>تفعيل الخطة</a:t>
            </a:r>
            <a:endParaRPr lang="en-US" sz="750" dirty="0"/>
          </a:p>
        </p:txBody>
      </p:sp>
      <p:sp>
        <p:nvSpPr>
          <p:cNvPr id="25" name="Text 22"/>
          <p:cNvSpPr/>
          <p:nvPr/>
        </p:nvSpPr>
        <p:spPr>
          <a:xfrm>
            <a:off x="5455704" y="2488816"/>
            <a:ext cx="1660196" cy="119993"/>
          </a:xfrm>
          <a:prstGeom prst="rect">
            <a:avLst/>
          </a:prstGeom>
          <a:noFill/>
          <a:ln/>
        </p:spPr>
        <p:txBody>
          <a:bodyPr wrap="none" lIns="0" tIns="0" rIns="0" bIns="0" rtlCol="0" anchor="t">
            <a:spAutoFit/>
          </a:bodyPr>
          <a:lstStyle/>
          <a:p>
            <a:pPr algn="ctr" indent="0" marL="0">
              <a:lnSpc>
                <a:spcPct val="96000"/>
              </a:lnSpc>
              <a:buNone/>
            </a:pPr>
            <a:r>
              <a:rPr lang="en-US" sz="750" dirty="0">
                <a:solidFill>
                  <a:srgbClr val="0F172A"/>
                </a:solidFill>
                <a:latin typeface="Noto Sans Arabic" pitchFamily="34" charset="0"/>
                <a:ea typeface="Noto Sans Arabic" pitchFamily="34" charset="-122"/>
                <a:cs typeface="Noto Sans Arabic" pitchFamily="34" charset="-120"/>
              </a:rPr>
              <a:t>استعادة الهوية</a:t>
            </a:r>
            <a:endParaRPr lang="en-US" sz="750" dirty="0"/>
          </a:p>
        </p:txBody>
      </p:sp>
      <p:sp>
        <p:nvSpPr>
          <p:cNvPr id="26" name="Shape 23"/>
          <p:cNvSpPr/>
          <p:nvPr/>
        </p:nvSpPr>
        <p:spPr>
          <a:xfrm>
            <a:off x="4625746" y="2317366"/>
            <a:ext cx="1660141" cy="14288"/>
          </a:xfrm>
          <a:prstGeom prst="rect">
            <a:avLst/>
          </a:prstGeom>
          <a:solidFill>
            <a:srgbClr val="E2E8F0"/>
          </a:solidFill>
          <a:ln/>
        </p:spPr>
      </p:sp>
      <p:sp>
        <p:nvSpPr>
          <p:cNvPr id="27" name="Text 24"/>
          <p:cNvSpPr/>
          <p:nvPr/>
        </p:nvSpPr>
        <p:spPr>
          <a:xfrm>
            <a:off x="3741930" y="2488816"/>
            <a:ext cx="1660196" cy="119993"/>
          </a:xfrm>
          <a:prstGeom prst="rect">
            <a:avLst/>
          </a:prstGeom>
          <a:noFill/>
          <a:ln/>
        </p:spPr>
        <p:txBody>
          <a:bodyPr wrap="none" lIns="0" tIns="0" rIns="0" bIns="0" rtlCol="0" anchor="t">
            <a:spAutoFit/>
          </a:bodyPr>
          <a:lstStyle/>
          <a:p>
            <a:pPr algn="ctr" indent="0" marL="0">
              <a:lnSpc>
                <a:spcPct val="96000"/>
              </a:lnSpc>
              <a:buNone/>
            </a:pPr>
            <a:r>
              <a:rPr lang="en-US" sz="750" dirty="0">
                <a:solidFill>
                  <a:srgbClr val="0F172A"/>
                </a:solidFill>
                <a:latin typeface="Noto Sans Arabic" pitchFamily="34" charset="0"/>
                <a:ea typeface="Noto Sans Arabic" pitchFamily="34" charset="-122"/>
                <a:cs typeface="Noto Sans Arabic" pitchFamily="34" charset="-120"/>
              </a:rPr>
              <a:t>قواعد البيانات</a:t>
            </a:r>
            <a:endParaRPr lang="en-US" sz="750" dirty="0"/>
          </a:p>
        </p:txBody>
      </p:sp>
      <p:sp>
        <p:nvSpPr>
          <p:cNvPr id="28" name="Shape 25"/>
          <p:cNvSpPr/>
          <p:nvPr/>
        </p:nvSpPr>
        <p:spPr>
          <a:xfrm>
            <a:off x="2911971" y="2317366"/>
            <a:ext cx="1660141" cy="14288"/>
          </a:xfrm>
          <a:prstGeom prst="rect">
            <a:avLst/>
          </a:prstGeom>
          <a:solidFill>
            <a:srgbClr val="E2E8F0"/>
          </a:solidFill>
          <a:ln/>
        </p:spPr>
      </p:sp>
      <p:sp>
        <p:nvSpPr>
          <p:cNvPr id="29" name="Text 26"/>
          <p:cNvSpPr/>
          <p:nvPr/>
        </p:nvSpPr>
        <p:spPr>
          <a:xfrm>
            <a:off x="2028155" y="2488816"/>
            <a:ext cx="1660196" cy="119993"/>
          </a:xfrm>
          <a:prstGeom prst="rect">
            <a:avLst/>
          </a:prstGeom>
          <a:noFill/>
          <a:ln/>
        </p:spPr>
        <p:txBody>
          <a:bodyPr wrap="none" lIns="0" tIns="0" rIns="0" bIns="0" rtlCol="0" anchor="t">
            <a:spAutoFit/>
          </a:bodyPr>
          <a:lstStyle/>
          <a:p>
            <a:pPr algn="ctr" indent="0" marL="0">
              <a:lnSpc>
                <a:spcPct val="96000"/>
              </a:lnSpc>
              <a:buNone/>
            </a:pPr>
            <a:r>
              <a:rPr lang="en-US" sz="750" dirty="0">
                <a:solidFill>
                  <a:srgbClr val="0F172A"/>
                </a:solidFill>
                <a:latin typeface="Noto Sans Arabic" pitchFamily="34" charset="0"/>
                <a:ea typeface="Noto Sans Arabic" pitchFamily="34" charset="-122"/>
                <a:cs typeface="Noto Sans Arabic" pitchFamily="34" charset="-120"/>
              </a:rPr>
              <a:t>تطبيق آفاق بلس</a:t>
            </a:r>
            <a:endParaRPr lang="en-US" sz="750" dirty="0"/>
          </a:p>
        </p:txBody>
      </p:sp>
      <p:sp>
        <p:nvSpPr>
          <p:cNvPr id="30" name="Shape 27"/>
          <p:cNvSpPr/>
          <p:nvPr/>
        </p:nvSpPr>
        <p:spPr>
          <a:xfrm>
            <a:off x="1198197" y="2317366"/>
            <a:ext cx="1660141" cy="14288"/>
          </a:xfrm>
          <a:prstGeom prst="rect">
            <a:avLst/>
          </a:prstGeom>
          <a:solidFill>
            <a:srgbClr val="E2E8F0"/>
          </a:solidFill>
          <a:ln/>
        </p:spPr>
      </p:sp>
      <p:sp>
        <p:nvSpPr>
          <p:cNvPr id="31" name="Text 28"/>
          <p:cNvSpPr/>
          <p:nvPr/>
        </p:nvSpPr>
        <p:spPr>
          <a:xfrm>
            <a:off x="314381" y="2488816"/>
            <a:ext cx="1660196" cy="119993"/>
          </a:xfrm>
          <a:prstGeom prst="rect">
            <a:avLst/>
          </a:prstGeom>
          <a:noFill/>
          <a:ln/>
        </p:spPr>
        <p:txBody>
          <a:bodyPr wrap="none" lIns="0" tIns="0" rIns="0" bIns="0" rtlCol="0" anchor="t">
            <a:spAutoFit/>
          </a:bodyPr>
          <a:lstStyle/>
          <a:p>
            <a:pPr algn="ctr" indent="0" marL="0">
              <a:lnSpc>
                <a:spcPct val="96000"/>
              </a:lnSpc>
              <a:buNone/>
            </a:pPr>
            <a:r>
              <a:rPr lang="en-US" sz="750" dirty="0">
                <a:solidFill>
                  <a:srgbClr val="0F172A"/>
                </a:solidFill>
                <a:latin typeface="Noto Sans Arabic" pitchFamily="34" charset="0"/>
                <a:ea typeface="Noto Sans Arabic" pitchFamily="34" charset="-122"/>
                <a:cs typeface="Noto Sans Arabic" pitchFamily="34" charset="-120"/>
              </a:rPr>
              <a:t>اختبار الملاك</a:t>
            </a:r>
            <a:endParaRPr lang="en-US" sz="750" dirty="0"/>
          </a:p>
        </p:txBody>
      </p:sp>
      <p:sp>
        <p:nvSpPr>
          <p:cNvPr id="32" name="Shape 29"/>
          <p:cNvSpPr/>
          <p:nvPr/>
        </p:nvSpPr>
        <p:spPr>
          <a:xfrm>
            <a:off x="-515578" y="2317366"/>
            <a:ext cx="1660141" cy="14288"/>
          </a:xfrm>
          <a:prstGeom prst="rect">
            <a:avLst/>
          </a:prstGeom>
          <a:solidFill>
            <a:srgbClr val="E2E8F0"/>
          </a:solidFill>
          <a:ln/>
        </p:spPr>
      </p:sp>
      <p:sp>
        <p:nvSpPr>
          <p:cNvPr id="33" name="Text 30"/>
          <p:cNvSpPr/>
          <p:nvPr/>
        </p:nvSpPr>
        <p:spPr>
          <a:xfrm>
            <a:off x="8272518" y="4832747"/>
            <a:ext cx="671457" cy="196453"/>
          </a:xfrm>
          <a:prstGeom prst="rect">
            <a:avLst/>
          </a:prstGeom>
          <a:noFill/>
          <a:ln/>
        </p:spPr>
        <p:txBody>
          <a:bodyPr wrap="none" lIns="0" tIns="0" rIns="0" bIns="0" rtlCol="0" anchor="t">
            <a:spAutoFit/>
          </a:bodyPr>
          <a:lstStyle/>
          <a:p>
            <a:pPr algn="l" indent="0" marL="0">
              <a:buNone/>
            </a:pPr>
            <a:r>
              <a:rPr lang="en-US" sz="6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650" dirty="0"/>
          </a:p>
        </p:txBody>
      </p:sp>
      <p:sp>
        <p:nvSpPr>
          <p:cNvPr id="34" name="Text 31"/>
          <p:cNvSpPr/>
          <p:nvPr/>
        </p:nvSpPr>
        <p:spPr>
          <a:xfrm>
            <a:off x="200025" y="4832747"/>
            <a:ext cx="53132" cy="196453"/>
          </a:xfrm>
          <a:prstGeom prst="rect">
            <a:avLst/>
          </a:prstGeom>
          <a:noFill/>
          <a:ln/>
        </p:spPr>
        <p:txBody>
          <a:bodyPr wrap="none" lIns="0" tIns="0" rIns="0" bIns="0" rtlCol="0" anchor="t">
            <a:spAutoFit/>
          </a:bodyPr>
          <a:lstStyle/>
          <a:p>
            <a:pPr algn="l" indent="0" marL="0">
              <a:buNone/>
            </a:pPr>
            <a:r>
              <a:rPr lang="en-US" sz="650" dirty="0">
                <a:solidFill>
                  <a:srgbClr val="64748B"/>
                </a:solidFill>
                <a:latin typeface="Noto Sans Arabic" pitchFamily="34" charset="0"/>
                <a:ea typeface="Noto Sans Arabic" pitchFamily="34" charset="-122"/>
                <a:cs typeface="Noto Sans Arabic" pitchFamily="34" charset="-120"/>
              </a:rPr>
              <a:t>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517922"/>
          </a:xfrm>
          <a:prstGeom prst="rect">
            <a:avLst/>
          </a:prstGeom>
          <a:solidFill>
            <a:srgbClr val="000000">
              <a:alpha val="0"/>
            </a:srgbClr>
          </a:solidFill>
          <a:ln/>
        </p:spPr>
      </p:sp>
      <p:sp>
        <p:nvSpPr>
          <p:cNvPr id="4" name="Shape 1"/>
          <p:cNvSpPr/>
          <p:nvPr/>
        </p:nvSpPr>
        <p:spPr>
          <a:xfrm>
            <a:off x="285750" y="789384"/>
            <a:ext cx="8572500" cy="14288"/>
          </a:xfrm>
          <a:prstGeom prst="rect">
            <a:avLst/>
          </a:prstGeom>
          <a:solidFill>
            <a:srgbClr val="8B5CF6"/>
          </a:solidFill>
          <a:ln/>
        </p:spPr>
      </p:sp>
      <p:sp>
        <p:nvSpPr>
          <p:cNvPr id="5" name="Text 2"/>
          <p:cNvSpPr/>
          <p:nvPr/>
        </p:nvSpPr>
        <p:spPr>
          <a:xfrm>
            <a:off x="285750" y="285750"/>
            <a:ext cx="8572500" cy="517922"/>
          </a:xfrm>
          <a:prstGeom prst="rect">
            <a:avLst/>
          </a:prstGeom>
          <a:noFill/>
          <a:ln/>
        </p:spPr>
        <p:txBody>
          <a:bodyPr wrap="square" lIns="0" tIns="0" rIns="0" bIns="85090" rtlCol="0" anchor="t">
            <a:spAutoFit/>
          </a:bodyPr>
          <a:lstStyle/>
          <a:p>
            <a:pPr algn="l" indent="0" marL="0">
              <a:buNone/>
            </a:pPr>
            <a:r>
              <a:rPr lang="en-US" sz="1600" b="1" dirty="0">
                <a:solidFill>
                  <a:srgbClr val="0F172A"/>
                </a:solidFill>
                <a:latin typeface="Noto Kufi Arabic Bold" pitchFamily="34" charset="0"/>
                <a:ea typeface="Noto Kufi Arabic Bold" pitchFamily="34" charset="-122"/>
                <a:cs typeface="Noto Kufi Arabic Bold" pitchFamily="34" charset="-120"/>
              </a:rPr>
              <a:t>قياس الأداء والتدقيق الداخلي</a:t>
            </a:r>
            <a:endParaRPr lang="en-US" sz="1600" dirty="0"/>
          </a:p>
        </p:txBody>
      </p:sp>
      <p:sp>
        <p:nvSpPr>
          <p:cNvPr id="6" name="Shape 3"/>
          <p:cNvSpPr/>
          <p:nvPr/>
        </p:nvSpPr>
        <p:spPr>
          <a:xfrm>
            <a:off x="4679156" y="1075134"/>
            <a:ext cx="4179094" cy="2839641"/>
          </a:xfrm>
          <a:prstGeom prst="rect">
            <a:avLst/>
          </a:prstGeom>
          <a:solidFill>
            <a:srgbClr val="FFFFFF"/>
          </a:solidFill>
          <a:ln/>
        </p:spPr>
      </p:sp>
      <p:sp>
        <p:nvSpPr>
          <p:cNvPr id="7" name="Shape 4"/>
          <p:cNvSpPr/>
          <p:nvPr/>
        </p:nvSpPr>
        <p:spPr>
          <a:xfrm>
            <a:off x="4679156" y="1075134"/>
            <a:ext cx="4179094" cy="28575"/>
          </a:xfrm>
          <a:prstGeom prst="rect">
            <a:avLst/>
          </a:prstGeom>
          <a:solidFill>
            <a:srgbClr val="8B5CF6"/>
          </a:solidFill>
          <a:ln/>
        </p:spPr>
      </p:sp>
      <p:sp>
        <p:nvSpPr>
          <p:cNvPr id="8" name="Shape 5"/>
          <p:cNvSpPr/>
          <p:nvPr/>
        </p:nvSpPr>
        <p:spPr>
          <a:xfrm>
            <a:off x="8851106" y="1075134"/>
            <a:ext cx="7144" cy="2839641"/>
          </a:xfrm>
          <a:prstGeom prst="rect">
            <a:avLst/>
          </a:prstGeom>
          <a:solidFill>
            <a:srgbClr val="E2E8F0"/>
          </a:solidFill>
          <a:ln/>
        </p:spPr>
      </p:sp>
      <p:sp>
        <p:nvSpPr>
          <p:cNvPr id="9" name="Shape 6"/>
          <p:cNvSpPr/>
          <p:nvPr/>
        </p:nvSpPr>
        <p:spPr>
          <a:xfrm>
            <a:off x="4679156" y="3907631"/>
            <a:ext cx="4179094" cy="7144"/>
          </a:xfrm>
          <a:prstGeom prst="rect">
            <a:avLst/>
          </a:prstGeom>
          <a:solidFill>
            <a:srgbClr val="E2E8F0"/>
          </a:solidFill>
          <a:ln/>
        </p:spPr>
      </p:sp>
      <p:sp>
        <p:nvSpPr>
          <p:cNvPr id="10" name="Shape 7"/>
          <p:cNvSpPr/>
          <p:nvPr/>
        </p:nvSpPr>
        <p:spPr>
          <a:xfrm>
            <a:off x="4679156" y="1075134"/>
            <a:ext cx="7144" cy="2839641"/>
          </a:xfrm>
          <a:prstGeom prst="rect">
            <a:avLst/>
          </a:prstGeom>
          <a:solidFill>
            <a:srgbClr val="E2E8F0"/>
          </a:solidFill>
          <a:ln/>
        </p:spPr>
      </p:sp>
      <p:sp>
        <p:nvSpPr>
          <p:cNvPr id="11" name="Text 8"/>
          <p:cNvSpPr/>
          <p:nvPr/>
        </p:nvSpPr>
        <p:spPr>
          <a:xfrm>
            <a:off x="4822031" y="1218009"/>
            <a:ext cx="3893344" cy="242888"/>
          </a:xfrm>
          <a:prstGeom prst="rect">
            <a:avLst/>
          </a:prstGeom>
          <a:noFill/>
          <a:ln/>
        </p:spPr>
        <p:txBody>
          <a:bodyPr wrap="square" lIns="0" tIns="0" rIns="0" bIns="0" rtlCol="0" anchor="t">
            <a:spAutoFit/>
          </a:bodyPr>
          <a:lstStyle/>
          <a:p>
            <a:pPr algn="l" indent="0" marL="0">
              <a:buNone/>
            </a:pPr>
            <a:r>
              <a:rPr lang="en-US" sz="800" b="1" dirty="0">
                <a:solidFill>
                  <a:srgbClr val="64748B"/>
                </a:solidFill>
                <a:latin typeface="Noto Sans Arabic Bold" pitchFamily="34" charset="0"/>
                <a:ea typeface="Noto Sans Arabic Bold" pitchFamily="34" charset="-122"/>
                <a:cs typeface="Noto Sans Arabic Bold" pitchFamily="34" charset="-120"/>
              </a:rPr>
              <a:t>مؤشرات الأداء الرئيسية (KPIs)</a:t>
            </a:r>
            <a:endParaRPr lang="en-US" sz="800" dirty="0"/>
          </a:p>
        </p:txBody>
      </p:sp>
      <p:sp>
        <p:nvSpPr>
          <p:cNvPr id="12" name="Shape 9"/>
          <p:cNvSpPr/>
          <p:nvPr/>
        </p:nvSpPr>
        <p:spPr>
          <a:xfrm>
            <a:off x="7849195" y="2003822"/>
            <a:ext cx="866180" cy="1028700"/>
          </a:xfrm>
          <a:prstGeom prst="rect">
            <a:avLst/>
          </a:prstGeom>
          <a:solidFill>
            <a:srgbClr val="8B5CF6"/>
          </a:solidFill>
          <a:ln/>
        </p:spPr>
      </p:sp>
      <p:sp>
        <p:nvSpPr>
          <p:cNvPr id="13" name="Text 10"/>
          <p:cNvSpPr/>
          <p:nvPr/>
        </p:nvSpPr>
        <p:spPr>
          <a:xfrm>
            <a:off x="7849195" y="3064669"/>
            <a:ext cx="866180" cy="182166"/>
          </a:xfrm>
          <a:prstGeom prst="rect">
            <a:avLst/>
          </a:prstGeom>
          <a:noFill/>
          <a:ln/>
        </p:spPr>
        <p:txBody>
          <a:bodyPr wrap="none" lIns="0" tIns="0" rIns="0" bIns="0" rtlCol="0" anchor="t">
            <a:spAutoFit/>
          </a:bodyPr>
          <a:lstStyle/>
          <a:p>
            <a:pPr algn="ctr" indent="0" marL="0">
              <a:buNone/>
            </a:pPr>
            <a:r>
              <a:rPr lang="en-US" sz="600" dirty="0">
                <a:solidFill>
                  <a:srgbClr val="0F172A"/>
                </a:solidFill>
                <a:latin typeface="Noto Sans Arabic" pitchFamily="34" charset="0"/>
                <a:ea typeface="Noto Sans Arabic" pitchFamily="34" charset="-122"/>
                <a:cs typeface="Noto Sans Arabic" pitchFamily="34" charset="-120"/>
              </a:rPr>
              <a:t>إغلاق الثغرات</a:t>
            </a:r>
            <a:endParaRPr lang="en-US" sz="600" dirty="0"/>
          </a:p>
        </p:txBody>
      </p:sp>
      <p:sp>
        <p:nvSpPr>
          <p:cNvPr id="14" name="Shape 11"/>
          <p:cNvSpPr/>
          <p:nvPr/>
        </p:nvSpPr>
        <p:spPr>
          <a:xfrm>
            <a:off x="6840141" y="1732359"/>
            <a:ext cx="866180" cy="1300163"/>
          </a:xfrm>
          <a:prstGeom prst="rect">
            <a:avLst/>
          </a:prstGeom>
          <a:solidFill>
            <a:srgbClr val="8B5CF6"/>
          </a:solidFill>
          <a:ln/>
        </p:spPr>
      </p:sp>
      <p:sp>
        <p:nvSpPr>
          <p:cNvPr id="15" name="Text 12"/>
          <p:cNvSpPr/>
          <p:nvPr/>
        </p:nvSpPr>
        <p:spPr>
          <a:xfrm>
            <a:off x="6840141" y="3064669"/>
            <a:ext cx="866180" cy="182166"/>
          </a:xfrm>
          <a:prstGeom prst="rect">
            <a:avLst/>
          </a:prstGeom>
          <a:noFill/>
          <a:ln/>
        </p:spPr>
        <p:txBody>
          <a:bodyPr wrap="none" lIns="0" tIns="0" rIns="0" bIns="0" rtlCol="0" anchor="t">
            <a:spAutoFit/>
          </a:bodyPr>
          <a:lstStyle/>
          <a:p>
            <a:pPr algn="ctr" indent="0" marL="0">
              <a:buNone/>
            </a:pPr>
            <a:r>
              <a:rPr lang="en-US" sz="600" dirty="0">
                <a:solidFill>
                  <a:srgbClr val="0F172A"/>
                </a:solidFill>
                <a:latin typeface="Noto Sans Arabic" pitchFamily="34" charset="0"/>
                <a:ea typeface="Noto Sans Arabic" pitchFamily="34" charset="-122"/>
                <a:cs typeface="Noto Sans Arabic" pitchFamily="34" charset="-120"/>
              </a:rPr>
              <a:t>التدريب الأمني</a:t>
            </a:r>
            <a:endParaRPr lang="en-US" sz="600" dirty="0"/>
          </a:p>
        </p:txBody>
      </p:sp>
      <p:sp>
        <p:nvSpPr>
          <p:cNvPr id="16" name="Shape 13"/>
          <p:cNvSpPr/>
          <p:nvPr/>
        </p:nvSpPr>
        <p:spPr>
          <a:xfrm>
            <a:off x="5831086" y="1860947"/>
            <a:ext cx="866180" cy="1171575"/>
          </a:xfrm>
          <a:prstGeom prst="rect">
            <a:avLst/>
          </a:prstGeom>
          <a:solidFill>
            <a:srgbClr val="8B5CF6"/>
          </a:solidFill>
          <a:ln/>
        </p:spPr>
      </p:sp>
      <p:sp>
        <p:nvSpPr>
          <p:cNvPr id="17" name="Text 14"/>
          <p:cNvSpPr/>
          <p:nvPr/>
        </p:nvSpPr>
        <p:spPr>
          <a:xfrm>
            <a:off x="5831086" y="3064669"/>
            <a:ext cx="866180" cy="182166"/>
          </a:xfrm>
          <a:prstGeom prst="rect">
            <a:avLst/>
          </a:prstGeom>
          <a:noFill/>
          <a:ln/>
        </p:spPr>
        <p:txBody>
          <a:bodyPr wrap="none" lIns="0" tIns="0" rIns="0" bIns="0" rtlCol="0" anchor="t">
            <a:spAutoFit/>
          </a:bodyPr>
          <a:lstStyle/>
          <a:p>
            <a:pPr algn="ctr" indent="0" marL="0">
              <a:buNone/>
            </a:pPr>
            <a:r>
              <a:rPr lang="en-US" sz="600" dirty="0">
                <a:solidFill>
                  <a:srgbClr val="0F172A"/>
                </a:solidFill>
                <a:latin typeface="Noto Sans Arabic" pitchFamily="34" charset="0"/>
                <a:ea typeface="Noto Sans Arabic" pitchFamily="34" charset="-122"/>
                <a:cs typeface="Noto Sans Arabic" pitchFamily="34" charset="-120"/>
              </a:rPr>
              <a:t>تشفير الأجهزة</a:t>
            </a:r>
            <a:endParaRPr lang="en-US" sz="600" dirty="0"/>
          </a:p>
        </p:txBody>
      </p:sp>
      <p:sp>
        <p:nvSpPr>
          <p:cNvPr id="18" name="Shape 15"/>
          <p:cNvSpPr/>
          <p:nvPr/>
        </p:nvSpPr>
        <p:spPr>
          <a:xfrm>
            <a:off x="4822031" y="1618059"/>
            <a:ext cx="866180" cy="1414463"/>
          </a:xfrm>
          <a:prstGeom prst="rect">
            <a:avLst/>
          </a:prstGeom>
          <a:solidFill>
            <a:srgbClr val="8B5CF6"/>
          </a:solidFill>
          <a:ln/>
        </p:spPr>
      </p:sp>
      <p:sp>
        <p:nvSpPr>
          <p:cNvPr id="19" name="Text 16"/>
          <p:cNvSpPr/>
          <p:nvPr/>
        </p:nvSpPr>
        <p:spPr>
          <a:xfrm>
            <a:off x="4822031" y="3064669"/>
            <a:ext cx="866180" cy="182166"/>
          </a:xfrm>
          <a:prstGeom prst="rect">
            <a:avLst/>
          </a:prstGeom>
          <a:noFill/>
          <a:ln/>
        </p:spPr>
        <p:txBody>
          <a:bodyPr wrap="none" lIns="0" tIns="0" rIns="0" bIns="0" rtlCol="0" anchor="t">
            <a:spAutoFit/>
          </a:bodyPr>
          <a:lstStyle/>
          <a:p>
            <a:pPr algn="ctr" indent="0" marL="0">
              <a:buNone/>
            </a:pPr>
            <a:r>
              <a:rPr lang="en-US" sz="600" dirty="0">
                <a:solidFill>
                  <a:srgbClr val="0F172A"/>
                </a:solidFill>
                <a:latin typeface="Noto Sans Arabic" pitchFamily="34" charset="0"/>
                <a:ea typeface="Noto Sans Arabic" pitchFamily="34" charset="-122"/>
                <a:cs typeface="Noto Sans Arabic" pitchFamily="34" charset="-120"/>
              </a:rPr>
              <a:t>نجاح النسخ</a:t>
            </a:r>
            <a:endParaRPr lang="en-US" sz="600" dirty="0"/>
          </a:p>
        </p:txBody>
      </p:sp>
      <p:sp>
        <p:nvSpPr>
          <p:cNvPr id="20" name="Text 17"/>
          <p:cNvSpPr/>
          <p:nvPr/>
        </p:nvSpPr>
        <p:spPr>
          <a:xfrm>
            <a:off x="4822031" y="3468291"/>
            <a:ext cx="3893344" cy="182166"/>
          </a:xfrm>
          <a:prstGeom prst="rect">
            <a:avLst/>
          </a:prstGeom>
          <a:noFill/>
          <a:ln/>
        </p:spPr>
        <p:txBody>
          <a:bodyPr wrap="square" lIns="0" tIns="0" rIns="0" bIns="0" rtlCol="0" anchor="t">
            <a:spAutoFit/>
          </a:bodyPr>
          <a:lstStyle/>
          <a:p>
            <a:pPr algn="l" indent="0" marL="0">
              <a:buNone/>
            </a:pPr>
            <a:r>
              <a:rPr lang="en-US" sz="600" dirty="0">
                <a:solidFill>
                  <a:srgbClr val="64748B"/>
                </a:solidFill>
                <a:latin typeface="Noto Sans Arabic" pitchFamily="34" charset="0"/>
                <a:ea typeface="Noto Sans Arabic" pitchFamily="34" charset="-122"/>
                <a:cs typeface="Noto Sans Arabic" pitchFamily="34" charset="-120"/>
              </a:rPr>
              <a:t>الأرجواني: النتيجة الحالية | السماوي: المستهدف</a:t>
            </a:r>
            <a:endParaRPr lang="en-US" sz="600" dirty="0"/>
          </a:p>
        </p:txBody>
      </p:sp>
      <p:sp>
        <p:nvSpPr>
          <p:cNvPr id="21" name="Shape 18"/>
          <p:cNvSpPr/>
          <p:nvPr/>
        </p:nvSpPr>
        <p:spPr>
          <a:xfrm>
            <a:off x="285750" y="1075134"/>
            <a:ext cx="4179094" cy="2803922"/>
          </a:xfrm>
          <a:prstGeom prst="rect">
            <a:avLst/>
          </a:prstGeom>
          <a:solidFill>
            <a:srgbClr val="FFFFFF"/>
          </a:solidFill>
          <a:ln/>
        </p:spPr>
      </p:sp>
      <p:sp>
        <p:nvSpPr>
          <p:cNvPr id="22" name="Shape 19"/>
          <p:cNvSpPr/>
          <p:nvPr/>
        </p:nvSpPr>
        <p:spPr>
          <a:xfrm>
            <a:off x="285750" y="1075134"/>
            <a:ext cx="4179094" cy="28575"/>
          </a:xfrm>
          <a:prstGeom prst="rect">
            <a:avLst/>
          </a:prstGeom>
          <a:solidFill>
            <a:srgbClr val="8B5CF6"/>
          </a:solidFill>
          <a:ln/>
        </p:spPr>
      </p:sp>
      <p:sp>
        <p:nvSpPr>
          <p:cNvPr id="23" name="Shape 20"/>
          <p:cNvSpPr/>
          <p:nvPr/>
        </p:nvSpPr>
        <p:spPr>
          <a:xfrm>
            <a:off x="4457700" y="1075134"/>
            <a:ext cx="7144" cy="2803922"/>
          </a:xfrm>
          <a:prstGeom prst="rect">
            <a:avLst/>
          </a:prstGeom>
          <a:solidFill>
            <a:srgbClr val="E2E8F0"/>
          </a:solidFill>
          <a:ln/>
        </p:spPr>
      </p:sp>
      <p:sp>
        <p:nvSpPr>
          <p:cNvPr id="24" name="Shape 21"/>
          <p:cNvSpPr/>
          <p:nvPr/>
        </p:nvSpPr>
        <p:spPr>
          <a:xfrm>
            <a:off x="285750" y="3871913"/>
            <a:ext cx="4179094" cy="7144"/>
          </a:xfrm>
          <a:prstGeom prst="rect">
            <a:avLst/>
          </a:prstGeom>
          <a:solidFill>
            <a:srgbClr val="E2E8F0"/>
          </a:solidFill>
          <a:ln/>
        </p:spPr>
      </p:sp>
      <p:sp>
        <p:nvSpPr>
          <p:cNvPr id="25" name="Shape 22"/>
          <p:cNvSpPr/>
          <p:nvPr/>
        </p:nvSpPr>
        <p:spPr>
          <a:xfrm>
            <a:off x="285750" y="1075134"/>
            <a:ext cx="7144" cy="2803922"/>
          </a:xfrm>
          <a:prstGeom prst="rect">
            <a:avLst/>
          </a:prstGeom>
          <a:solidFill>
            <a:srgbClr val="E2E8F0"/>
          </a:solidFill>
          <a:ln/>
        </p:spPr>
      </p:sp>
      <p:sp>
        <p:nvSpPr>
          <p:cNvPr id="26" name="Text 23"/>
          <p:cNvSpPr/>
          <p:nvPr/>
        </p:nvSpPr>
        <p:spPr>
          <a:xfrm>
            <a:off x="428625" y="1218009"/>
            <a:ext cx="3893344" cy="242888"/>
          </a:xfrm>
          <a:prstGeom prst="rect">
            <a:avLst/>
          </a:prstGeom>
          <a:noFill/>
          <a:ln/>
        </p:spPr>
        <p:txBody>
          <a:bodyPr wrap="square" lIns="0" tIns="0" rIns="0" bIns="0" rtlCol="0" anchor="t">
            <a:spAutoFit/>
          </a:bodyPr>
          <a:lstStyle/>
          <a:p>
            <a:pPr algn="l" indent="0" marL="0">
              <a:buNone/>
            </a:pPr>
            <a:r>
              <a:rPr lang="en-US" sz="800" b="1" dirty="0">
                <a:solidFill>
                  <a:srgbClr val="64748B"/>
                </a:solidFill>
                <a:latin typeface="Noto Sans Arabic Bold" pitchFamily="34" charset="0"/>
                <a:ea typeface="Noto Sans Arabic Bold" pitchFamily="34" charset="-122"/>
                <a:cs typeface="Noto Sans Arabic Bold" pitchFamily="34" charset="-120"/>
              </a:rPr>
              <a:t>نتائج التدقيق الداخلي (9.2)</a:t>
            </a:r>
            <a:endParaRPr lang="en-US" sz="800" dirty="0"/>
          </a:p>
        </p:txBody>
      </p:sp>
      <p:sp>
        <p:nvSpPr>
          <p:cNvPr id="27" name="Text 24"/>
          <p:cNvSpPr/>
          <p:nvPr/>
        </p:nvSpPr>
        <p:spPr>
          <a:xfrm>
            <a:off x="2243863" y="1603772"/>
            <a:ext cx="2078106" cy="417909"/>
          </a:xfrm>
          <a:prstGeom prst="rect">
            <a:avLst/>
          </a:prstGeom>
          <a:noFill/>
          <a:ln/>
        </p:spPr>
        <p:txBody>
          <a:bodyPr wrap="squar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حالات عدم المطابقة (NCR)</a:t>
            </a:r>
            <a:endParaRPr lang="en-US" sz="850" dirty="0"/>
          </a:p>
        </p:txBody>
      </p:sp>
      <p:sp>
        <p:nvSpPr>
          <p:cNvPr id="28" name="Text 25"/>
          <p:cNvSpPr/>
          <p:nvPr/>
        </p:nvSpPr>
        <p:spPr>
          <a:xfrm>
            <a:off x="1556612" y="1603772"/>
            <a:ext cx="687251" cy="417909"/>
          </a:xfrm>
          <a:prstGeom prst="rect">
            <a:avLst/>
          </a:prstGeom>
          <a:noFill/>
          <a:ln/>
        </p:spPr>
        <p:txBody>
          <a:bodyPr wrap="non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4</a:t>
            </a:r>
            <a:endParaRPr lang="en-US" sz="850" dirty="0"/>
          </a:p>
        </p:txBody>
      </p:sp>
      <p:sp>
        <p:nvSpPr>
          <p:cNvPr id="29" name="Shape 26"/>
          <p:cNvSpPr/>
          <p:nvPr/>
        </p:nvSpPr>
        <p:spPr>
          <a:xfrm>
            <a:off x="872263" y="1700213"/>
            <a:ext cx="598624" cy="239316"/>
          </a:xfrm>
          <a:prstGeom prst="rect">
            <a:avLst/>
          </a:prstGeom>
          <a:solidFill>
            <a:srgbClr val="FEF3C7"/>
          </a:solidFill>
          <a:ln/>
        </p:spPr>
      </p:sp>
      <p:sp>
        <p:nvSpPr>
          <p:cNvPr id="30" name="Text 27"/>
          <p:cNvSpPr/>
          <p:nvPr/>
        </p:nvSpPr>
        <p:spPr>
          <a:xfrm>
            <a:off x="872263" y="1700213"/>
            <a:ext cx="598624" cy="239316"/>
          </a:xfrm>
          <a:prstGeom prst="rect">
            <a:avLst/>
          </a:prstGeom>
          <a:noFill/>
          <a:ln/>
        </p:spPr>
        <p:txBody>
          <a:bodyPr wrap="none" lIns="85090" tIns="34036" rIns="85090" bIns="34036" rtlCol="0" anchor="t">
            <a:spAutoFit/>
          </a:bodyPr>
          <a:lstStyle/>
          <a:p>
            <a:pPr algn="l" indent="0" marL="0">
              <a:buNone/>
            </a:pPr>
            <a:r>
              <a:rPr lang="en-US" sz="600" b="1" dirty="0">
                <a:solidFill>
                  <a:srgbClr val="92400E"/>
                </a:solidFill>
                <a:latin typeface="Noto Sans Arabic Bold" pitchFamily="34" charset="0"/>
                <a:ea typeface="Noto Sans Arabic Bold" pitchFamily="34" charset="-122"/>
                <a:cs typeface="Noto Sans Arabic Bold" pitchFamily="34" charset="-120"/>
              </a:rPr>
              <a:t>قيد المعالجة</a:t>
            </a:r>
            <a:endParaRPr lang="en-US" sz="600" dirty="0"/>
          </a:p>
        </p:txBody>
      </p:sp>
      <p:sp>
        <p:nvSpPr>
          <p:cNvPr id="31" name="Text 28"/>
          <p:cNvSpPr/>
          <p:nvPr/>
        </p:nvSpPr>
        <p:spPr>
          <a:xfrm>
            <a:off x="2243863" y="2021681"/>
            <a:ext cx="2078106" cy="421481"/>
          </a:xfrm>
          <a:prstGeom prst="rect">
            <a:avLst/>
          </a:prstGeom>
          <a:noFill/>
          <a:ln/>
        </p:spPr>
        <p:txBody>
          <a:bodyPr wrap="squar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ملاحظات التحسين (OBS)</a:t>
            </a:r>
            <a:endParaRPr lang="en-US" sz="850" dirty="0"/>
          </a:p>
        </p:txBody>
      </p:sp>
      <p:sp>
        <p:nvSpPr>
          <p:cNvPr id="32" name="Text 29"/>
          <p:cNvSpPr/>
          <p:nvPr/>
        </p:nvSpPr>
        <p:spPr>
          <a:xfrm>
            <a:off x="1556612" y="2021681"/>
            <a:ext cx="687251" cy="421481"/>
          </a:xfrm>
          <a:prstGeom prst="rect">
            <a:avLst/>
          </a:prstGeom>
          <a:noFill/>
          <a:ln/>
        </p:spPr>
        <p:txBody>
          <a:bodyPr wrap="non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4</a:t>
            </a:r>
            <a:endParaRPr lang="en-US" sz="850" dirty="0"/>
          </a:p>
        </p:txBody>
      </p:sp>
      <p:sp>
        <p:nvSpPr>
          <p:cNvPr id="33" name="Shape 30"/>
          <p:cNvSpPr/>
          <p:nvPr/>
        </p:nvSpPr>
        <p:spPr>
          <a:xfrm>
            <a:off x="1051192" y="2121694"/>
            <a:ext cx="419695" cy="239316"/>
          </a:xfrm>
          <a:prstGeom prst="rect">
            <a:avLst/>
          </a:prstGeom>
          <a:solidFill>
            <a:srgbClr val="D1FAE5"/>
          </a:solidFill>
          <a:ln/>
        </p:spPr>
      </p:sp>
      <p:sp>
        <p:nvSpPr>
          <p:cNvPr id="34" name="Text 31"/>
          <p:cNvSpPr/>
          <p:nvPr/>
        </p:nvSpPr>
        <p:spPr>
          <a:xfrm>
            <a:off x="1051192" y="2121694"/>
            <a:ext cx="419695" cy="239316"/>
          </a:xfrm>
          <a:prstGeom prst="rect">
            <a:avLst/>
          </a:prstGeom>
          <a:noFill/>
          <a:ln/>
        </p:spPr>
        <p:txBody>
          <a:bodyPr wrap="none" lIns="85090" tIns="34036" rIns="85090" bIns="34036" rtlCol="0" anchor="t">
            <a:spAutoFit/>
          </a:bodyPr>
          <a:lstStyle/>
          <a:p>
            <a:pPr algn="l" indent="0" marL="0">
              <a:buNone/>
            </a:pPr>
            <a:r>
              <a:rPr lang="en-US" sz="600" b="1" dirty="0">
                <a:solidFill>
                  <a:srgbClr val="065F46"/>
                </a:solidFill>
                <a:latin typeface="Noto Sans Arabic Bold" pitchFamily="34" charset="0"/>
                <a:ea typeface="Noto Sans Arabic Bold" pitchFamily="34" charset="-122"/>
                <a:cs typeface="Noto Sans Arabic Bold" pitchFamily="34" charset="-120"/>
              </a:rPr>
              <a:t>مفتوحة</a:t>
            </a:r>
            <a:endParaRPr lang="en-US" sz="600" dirty="0"/>
          </a:p>
        </p:txBody>
      </p:sp>
      <p:sp>
        <p:nvSpPr>
          <p:cNvPr id="35" name="Text 32"/>
          <p:cNvSpPr/>
          <p:nvPr/>
        </p:nvSpPr>
        <p:spPr>
          <a:xfrm>
            <a:off x="2243863" y="2443163"/>
            <a:ext cx="2078106" cy="421481"/>
          </a:xfrm>
          <a:prstGeom prst="rect">
            <a:avLst/>
          </a:prstGeom>
          <a:noFill/>
          <a:ln/>
        </p:spPr>
        <p:txBody>
          <a:bodyPr wrap="squar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تغطية الضوابط</a:t>
            </a:r>
            <a:endParaRPr lang="en-US" sz="850" dirty="0"/>
          </a:p>
        </p:txBody>
      </p:sp>
      <p:sp>
        <p:nvSpPr>
          <p:cNvPr id="36" name="Text 33"/>
          <p:cNvSpPr/>
          <p:nvPr/>
        </p:nvSpPr>
        <p:spPr>
          <a:xfrm>
            <a:off x="1556612" y="2443163"/>
            <a:ext cx="687251" cy="421481"/>
          </a:xfrm>
          <a:prstGeom prst="rect">
            <a:avLst/>
          </a:prstGeom>
          <a:noFill/>
          <a:ln/>
        </p:spPr>
        <p:txBody>
          <a:bodyPr wrap="non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100%</a:t>
            </a:r>
            <a:endParaRPr lang="en-US" sz="850" dirty="0"/>
          </a:p>
        </p:txBody>
      </p:sp>
      <p:sp>
        <p:nvSpPr>
          <p:cNvPr id="37" name="Shape 34"/>
          <p:cNvSpPr/>
          <p:nvPr/>
        </p:nvSpPr>
        <p:spPr>
          <a:xfrm>
            <a:off x="1078204" y="2543175"/>
            <a:ext cx="392683" cy="239316"/>
          </a:xfrm>
          <a:prstGeom prst="rect">
            <a:avLst/>
          </a:prstGeom>
          <a:solidFill>
            <a:srgbClr val="D1FAE5"/>
          </a:solidFill>
          <a:ln/>
        </p:spPr>
      </p:sp>
      <p:sp>
        <p:nvSpPr>
          <p:cNvPr id="38" name="Text 35"/>
          <p:cNvSpPr/>
          <p:nvPr/>
        </p:nvSpPr>
        <p:spPr>
          <a:xfrm>
            <a:off x="1078204" y="2543175"/>
            <a:ext cx="392683" cy="239316"/>
          </a:xfrm>
          <a:prstGeom prst="rect">
            <a:avLst/>
          </a:prstGeom>
          <a:noFill/>
          <a:ln/>
        </p:spPr>
        <p:txBody>
          <a:bodyPr wrap="none" lIns="85090" tIns="34036" rIns="85090" bIns="34036" rtlCol="0" anchor="t">
            <a:spAutoFit/>
          </a:bodyPr>
          <a:lstStyle/>
          <a:p>
            <a:pPr algn="l" indent="0" marL="0">
              <a:buNone/>
            </a:pPr>
            <a:r>
              <a:rPr lang="en-US" sz="600" b="1" dirty="0">
                <a:solidFill>
                  <a:srgbClr val="065F46"/>
                </a:solidFill>
                <a:latin typeface="Noto Sans Arabic Bold" pitchFamily="34" charset="0"/>
                <a:ea typeface="Noto Sans Arabic Bold" pitchFamily="34" charset="-122"/>
                <a:cs typeface="Noto Sans Arabic Bold" pitchFamily="34" charset="-120"/>
              </a:rPr>
              <a:t>مكتمل</a:t>
            </a:r>
            <a:endParaRPr lang="en-US" sz="600" dirty="0"/>
          </a:p>
        </p:txBody>
      </p:sp>
      <p:sp>
        <p:nvSpPr>
          <p:cNvPr id="39" name="Text 36"/>
          <p:cNvSpPr/>
          <p:nvPr/>
        </p:nvSpPr>
        <p:spPr>
          <a:xfrm>
            <a:off x="2243863" y="2864644"/>
            <a:ext cx="2078106" cy="421481"/>
          </a:xfrm>
          <a:prstGeom prst="rect">
            <a:avLst/>
          </a:prstGeom>
          <a:noFill/>
          <a:ln/>
        </p:spPr>
        <p:txBody>
          <a:bodyPr wrap="squar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خطة الإجراءات التصحيحية</a:t>
            </a:r>
            <a:endParaRPr lang="en-US" sz="850" dirty="0"/>
          </a:p>
        </p:txBody>
      </p:sp>
      <p:sp>
        <p:nvSpPr>
          <p:cNvPr id="40" name="Text 37"/>
          <p:cNvSpPr/>
          <p:nvPr/>
        </p:nvSpPr>
        <p:spPr>
          <a:xfrm>
            <a:off x="1556612" y="2864644"/>
            <a:ext cx="687251" cy="421481"/>
          </a:xfrm>
          <a:prstGeom prst="rect">
            <a:avLst/>
          </a:prstGeom>
          <a:noFill/>
          <a:ln/>
        </p:spPr>
        <p:txBody>
          <a:bodyPr wrap="none" lIns="102108" tIns="102108" rIns="1021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مفعلة</a:t>
            </a:r>
            <a:endParaRPr lang="en-US" sz="850" dirty="0"/>
          </a:p>
        </p:txBody>
      </p:sp>
      <p:sp>
        <p:nvSpPr>
          <p:cNvPr id="41" name="Shape 38"/>
          <p:cNvSpPr/>
          <p:nvPr/>
        </p:nvSpPr>
        <p:spPr>
          <a:xfrm>
            <a:off x="1078204" y="2964656"/>
            <a:ext cx="392683" cy="239316"/>
          </a:xfrm>
          <a:prstGeom prst="rect">
            <a:avLst/>
          </a:prstGeom>
          <a:solidFill>
            <a:srgbClr val="D1FAE5"/>
          </a:solidFill>
          <a:ln/>
        </p:spPr>
      </p:sp>
      <p:sp>
        <p:nvSpPr>
          <p:cNvPr id="42" name="Text 39"/>
          <p:cNvSpPr/>
          <p:nvPr/>
        </p:nvSpPr>
        <p:spPr>
          <a:xfrm>
            <a:off x="1078204" y="2964656"/>
            <a:ext cx="392683" cy="239316"/>
          </a:xfrm>
          <a:prstGeom prst="rect">
            <a:avLst/>
          </a:prstGeom>
          <a:noFill/>
          <a:ln/>
        </p:spPr>
        <p:txBody>
          <a:bodyPr wrap="none" lIns="85090" tIns="34036" rIns="85090" bIns="34036" rtlCol="0" anchor="t">
            <a:spAutoFit/>
          </a:bodyPr>
          <a:lstStyle/>
          <a:p>
            <a:pPr algn="l" indent="0" marL="0">
              <a:buNone/>
            </a:pPr>
            <a:r>
              <a:rPr lang="en-US" sz="600" b="1" dirty="0">
                <a:solidFill>
                  <a:srgbClr val="065F46"/>
                </a:solidFill>
                <a:latin typeface="Noto Sans Arabic Bold" pitchFamily="34" charset="0"/>
                <a:ea typeface="Noto Sans Arabic Bold" pitchFamily="34" charset="-122"/>
                <a:cs typeface="Noto Sans Arabic Bold" pitchFamily="34" charset="-120"/>
              </a:rPr>
              <a:t>مكتمل</a:t>
            </a:r>
            <a:endParaRPr lang="en-US" sz="600" dirty="0"/>
          </a:p>
        </p:txBody>
      </p:sp>
      <p:sp>
        <p:nvSpPr>
          <p:cNvPr id="43" name="Text 40"/>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44" name="Text 41"/>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517922"/>
          </a:xfrm>
          <a:prstGeom prst="rect">
            <a:avLst/>
          </a:prstGeom>
          <a:solidFill>
            <a:srgbClr val="000000">
              <a:alpha val="0"/>
            </a:srgbClr>
          </a:solidFill>
          <a:ln/>
        </p:spPr>
      </p:sp>
      <p:sp>
        <p:nvSpPr>
          <p:cNvPr id="4" name="Shape 1"/>
          <p:cNvSpPr/>
          <p:nvPr/>
        </p:nvSpPr>
        <p:spPr>
          <a:xfrm>
            <a:off x="285750" y="789384"/>
            <a:ext cx="8572500" cy="14288"/>
          </a:xfrm>
          <a:prstGeom prst="rect">
            <a:avLst/>
          </a:prstGeom>
          <a:solidFill>
            <a:srgbClr val="8B5CF6"/>
          </a:solidFill>
          <a:ln/>
        </p:spPr>
      </p:sp>
      <p:sp>
        <p:nvSpPr>
          <p:cNvPr id="5" name="Text 2"/>
          <p:cNvSpPr/>
          <p:nvPr/>
        </p:nvSpPr>
        <p:spPr>
          <a:xfrm>
            <a:off x="285750" y="285750"/>
            <a:ext cx="8572500" cy="517922"/>
          </a:xfrm>
          <a:prstGeom prst="rect">
            <a:avLst/>
          </a:prstGeom>
          <a:noFill/>
          <a:ln/>
        </p:spPr>
        <p:txBody>
          <a:bodyPr wrap="square" lIns="0" tIns="0" rIns="0" bIns="85090" rtlCol="0" anchor="t">
            <a:spAutoFit/>
          </a:bodyPr>
          <a:lstStyle/>
          <a:p>
            <a:pPr algn="l" indent="0" marL="0">
              <a:buNone/>
            </a:pPr>
            <a:r>
              <a:rPr lang="en-US" sz="1600" b="1" dirty="0">
                <a:solidFill>
                  <a:srgbClr val="0F172A"/>
                </a:solidFill>
                <a:latin typeface="Noto Kufi Arabic Bold" pitchFamily="34" charset="0"/>
                <a:ea typeface="Noto Kufi Arabic Bold" pitchFamily="34" charset="-122"/>
                <a:cs typeface="Noto Kufi Arabic Bold" pitchFamily="34" charset="-120"/>
              </a:rPr>
              <a:t>حزمة الأدلة ومصفوفة التتبع</a:t>
            </a:r>
            <a:endParaRPr lang="en-US" sz="1600" dirty="0"/>
          </a:p>
        </p:txBody>
      </p:sp>
      <p:sp>
        <p:nvSpPr>
          <p:cNvPr id="6" name="Shape 3"/>
          <p:cNvSpPr/>
          <p:nvPr/>
        </p:nvSpPr>
        <p:spPr>
          <a:xfrm>
            <a:off x="285750" y="1003697"/>
            <a:ext cx="8572500" cy="3021806"/>
          </a:xfrm>
          <a:prstGeom prst="rect">
            <a:avLst/>
          </a:prstGeom>
          <a:solidFill>
            <a:srgbClr val="FFFFFF"/>
          </a:solidFill>
          <a:ln w="9144">
            <a:solidFill>
              <a:srgbClr val="E2E8F0"/>
            </a:solidFill>
            <a:prstDash val="solid"/>
          </a:ln>
        </p:spPr>
      </p:sp>
      <p:sp>
        <p:nvSpPr>
          <p:cNvPr id="7" name="Shape 4"/>
          <p:cNvSpPr/>
          <p:nvPr/>
        </p:nvSpPr>
        <p:spPr>
          <a:xfrm>
            <a:off x="7829215" y="1003697"/>
            <a:ext cx="1029035" cy="485775"/>
          </a:xfrm>
          <a:prstGeom prst="rect">
            <a:avLst/>
          </a:prstGeom>
          <a:solidFill>
            <a:srgbClr val="8B5CF6"/>
          </a:solidFill>
          <a:ln/>
        </p:spPr>
      </p:sp>
      <p:sp>
        <p:nvSpPr>
          <p:cNvPr id="8" name="Text 5"/>
          <p:cNvSpPr/>
          <p:nvPr/>
        </p:nvSpPr>
        <p:spPr>
          <a:xfrm>
            <a:off x="7829215" y="1003697"/>
            <a:ext cx="1029035" cy="485775"/>
          </a:xfrm>
          <a:prstGeom prst="rect">
            <a:avLst/>
          </a:prstGeom>
          <a:noFill/>
          <a:ln/>
        </p:spPr>
        <p:txBody>
          <a:bodyPr wrap="none" lIns="127508" tIns="127508" rIns="127508" bIns="127508" rtlCol="0" anchor="ctr">
            <a:spAutoFit/>
          </a:bodyPr>
          <a:lstStyle/>
          <a:p>
            <a:pPr algn="r" indent="0" marL="0">
              <a:buNone/>
            </a:pPr>
            <a:r>
              <a:rPr lang="en-US" sz="900" b="1" dirty="0">
                <a:solidFill>
                  <a:srgbClr val="FFFFFF"/>
                </a:solidFill>
                <a:latin typeface="Noto Sans Arabic Bold" pitchFamily="34" charset="0"/>
                <a:ea typeface="Noto Sans Arabic Bold" pitchFamily="34" charset="-122"/>
                <a:cs typeface="Noto Sans Arabic Bold" pitchFamily="34" charset="-120"/>
              </a:rPr>
              <a:t>المعرف</a:t>
            </a:r>
            <a:endParaRPr lang="en-US" sz="900" dirty="0"/>
          </a:p>
        </p:txBody>
      </p:sp>
      <p:sp>
        <p:nvSpPr>
          <p:cNvPr id="9" name="Shape 6"/>
          <p:cNvSpPr/>
          <p:nvPr/>
        </p:nvSpPr>
        <p:spPr>
          <a:xfrm>
            <a:off x="5015526" y="1003697"/>
            <a:ext cx="2813689" cy="485775"/>
          </a:xfrm>
          <a:prstGeom prst="rect">
            <a:avLst/>
          </a:prstGeom>
          <a:solidFill>
            <a:srgbClr val="8B5CF6"/>
          </a:solidFill>
          <a:ln/>
        </p:spPr>
      </p:sp>
      <p:sp>
        <p:nvSpPr>
          <p:cNvPr id="10" name="Text 7"/>
          <p:cNvSpPr/>
          <p:nvPr/>
        </p:nvSpPr>
        <p:spPr>
          <a:xfrm>
            <a:off x="5015526" y="1003697"/>
            <a:ext cx="2813689" cy="485775"/>
          </a:xfrm>
          <a:prstGeom prst="rect">
            <a:avLst/>
          </a:prstGeom>
          <a:noFill/>
          <a:ln/>
        </p:spPr>
        <p:txBody>
          <a:bodyPr wrap="square" lIns="127508" tIns="127508" rIns="127508" bIns="127508" rtlCol="0" anchor="ctr">
            <a:spAutoFit/>
          </a:bodyPr>
          <a:lstStyle/>
          <a:p>
            <a:pPr algn="r" indent="0" marL="0">
              <a:buNone/>
            </a:pPr>
            <a:r>
              <a:rPr lang="en-US" sz="900" b="1" dirty="0">
                <a:solidFill>
                  <a:srgbClr val="FFFFFF"/>
                </a:solidFill>
                <a:latin typeface="Noto Sans Arabic Bold" pitchFamily="34" charset="0"/>
                <a:ea typeface="Noto Sans Arabic Bold" pitchFamily="34" charset="-122"/>
                <a:cs typeface="Noto Sans Arabic Bold" pitchFamily="34" charset="-120"/>
              </a:rPr>
              <a:t>الأداة / الدليل</a:t>
            </a:r>
            <a:endParaRPr lang="en-US" sz="900" dirty="0"/>
          </a:p>
        </p:txBody>
      </p:sp>
      <p:sp>
        <p:nvSpPr>
          <p:cNvPr id="11" name="Shape 8"/>
          <p:cNvSpPr/>
          <p:nvPr/>
        </p:nvSpPr>
        <p:spPr>
          <a:xfrm>
            <a:off x="1401738" y="1003697"/>
            <a:ext cx="3613789" cy="485775"/>
          </a:xfrm>
          <a:prstGeom prst="rect">
            <a:avLst/>
          </a:prstGeom>
          <a:solidFill>
            <a:srgbClr val="8B5CF6"/>
          </a:solidFill>
          <a:ln/>
        </p:spPr>
      </p:sp>
      <p:sp>
        <p:nvSpPr>
          <p:cNvPr id="12" name="Text 9"/>
          <p:cNvSpPr/>
          <p:nvPr/>
        </p:nvSpPr>
        <p:spPr>
          <a:xfrm>
            <a:off x="1401738" y="1003697"/>
            <a:ext cx="3613789" cy="485775"/>
          </a:xfrm>
          <a:prstGeom prst="rect">
            <a:avLst/>
          </a:prstGeom>
          <a:noFill/>
          <a:ln/>
        </p:spPr>
        <p:txBody>
          <a:bodyPr wrap="square" lIns="127508" tIns="127508" rIns="127508" bIns="127508" rtlCol="0" anchor="ctr">
            <a:spAutoFit/>
          </a:bodyPr>
          <a:lstStyle/>
          <a:p>
            <a:pPr algn="r" indent="0" marL="0">
              <a:buNone/>
            </a:pPr>
            <a:r>
              <a:rPr lang="en-US" sz="900" b="1" dirty="0">
                <a:solidFill>
                  <a:srgbClr val="FFFFFF"/>
                </a:solidFill>
                <a:latin typeface="Noto Sans Arabic Bold" pitchFamily="34" charset="0"/>
                <a:ea typeface="Noto Sans Arabic Bold" pitchFamily="34" charset="-122"/>
                <a:cs typeface="Noto Sans Arabic Bold" pitchFamily="34" charset="-120"/>
              </a:rPr>
              <a:t>الغرض من المراجعة</a:t>
            </a:r>
            <a:endParaRPr lang="en-US" sz="900" dirty="0"/>
          </a:p>
        </p:txBody>
      </p:sp>
      <p:sp>
        <p:nvSpPr>
          <p:cNvPr id="13" name="Shape 10"/>
          <p:cNvSpPr/>
          <p:nvPr/>
        </p:nvSpPr>
        <p:spPr>
          <a:xfrm>
            <a:off x="285750" y="1003697"/>
            <a:ext cx="1115988" cy="485775"/>
          </a:xfrm>
          <a:prstGeom prst="rect">
            <a:avLst/>
          </a:prstGeom>
          <a:solidFill>
            <a:srgbClr val="8B5CF6"/>
          </a:solidFill>
          <a:ln/>
        </p:spPr>
      </p:sp>
      <p:sp>
        <p:nvSpPr>
          <p:cNvPr id="14" name="Text 11"/>
          <p:cNvSpPr/>
          <p:nvPr/>
        </p:nvSpPr>
        <p:spPr>
          <a:xfrm>
            <a:off x="285750" y="1003697"/>
            <a:ext cx="1115988" cy="485775"/>
          </a:xfrm>
          <a:prstGeom prst="rect">
            <a:avLst/>
          </a:prstGeom>
          <a:noFill/>
          <a:ln/>
        </p:spPr>
        <p:txBody>
          <a:bodyPr wrap="none" lIns="127508" tIns="127508" rIns="127508" bIns="127508" rtlCol="0" anchor="ctr">
            <a:spAutoFit/>
          </a:bodyPr>
          <a:lstStyle/>
          <a:p>
            <a:pPr algn="r" indent="0" marL="0">
              <a:buNone/>
            </a:pPr>
            <a:r>
              <a:rPr lang="en-US" sz="900" b="1" dirty="0">
                <a:solidFill>
                  <a:srgbClr val="FFFFFF"/>
                </a:solidFill>
                <a:latin typeface="Noto Sans Arabic Bold" pitchFamily="34" charset="0"/>
                <a:ea typeface="Noto Sans Arabic Bold" pitchFamily="34" charset="-122"/>
                <a:cs typeface="Noto Sans Arabic Bold" pitchFamily="34" charset="-120"/>
              </a:rPr>
              <a:t>الحالة</a:t>
            </a:r>
            <a:endParaRPr lang="en-US" sz="900" dirty="0"/>
          </a:p>
        </p:txBody>
      </p:sp>
      <p:sp>
        <p:nvSpPr>
          <p:cNvPr id="15" name="Text 12"/>
          <p:cNvSpPr/>
          <p:nvPr/>
        </p:nvSpPr>
        <p:spPr>
          <a:xfrm>
            <a:off x="7829215" y="1489472"/>
            <a:ext cx="1029035" cy="417909"/>
          </a:xfrm>
          <a:prstGeom prst="rect">
            <a:avLst/>
          </a:prstGeom>
          <a:noFill/>
          <a:ln/>
        </p:spPr>
        <p:txBody>
          <a:bodyPr wrap="non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01</a:t>
            </a:r>
            <a:endParaRPr lang="en-US" sz="850" dirty="0"/>
          </a:p>
        </p:txBody>
      </p:sp>
      <p:sp>
        <p:nvSpPr>
          <p:cNvPr id="16" name="Text 13"/>
          <p:cNvSpPr/>
          <p:nvPr/>
        </p:nvSpPr>
        <p:spPr>
          <a:xfrm>
            <a:off x="5015526" y="1489472"/>
            <a:ext cx="2813689" cy="417909"/>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مصفوفة التتبع الشاملة</a:t>
            </a:r>
            <a:endParaRPr lang="en-US" sz="850" dirty="0"/>
          </a:p>
        </p:txBody>
      </p:sp>
      <p:sp>
        <p:nvSpPr>
          <p:cNvPr id="17" name="Text 14"/>
          <p:cNvSpPr/>
          <p:nvPr/>
        </p:nvSpPr>
        <p:spPr>
          <a:xfrm>
            <a:off x="1401738" y="1489472"/>
            <a:ext cx="3613789" cy="417909"/>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ربط الفجوات بالمخاطر والضوابط والأهداف.</a:t>
            </a:r>
            <a:endParaRPr lang="en-US" sz="850" dirty="0"/>
          </a:p>
        </p:txBody>
      </p:sp>
      <p:sp>
        <p:nvSpPr>
          <p:cNvPr id="18" name="Shape 15"/>
          <p:cNvSpPr/>
          <p:nvPr/>
        </p:nvSpPr>
        <p:spPr>
          <a:xfrm>
            <a:off x="831689" y="1568053"/>
            <a:ext cx="462893" cy="267891"/>
          </a:xfrm>
          <a:prstGeom prst="rect">
            <a:avLst/>
          </a:prstGeom>
          <a:solidFill>
            <a:srgbClr val="38BDF8"/>
          </a:solidFill>
          <a:ln/>
        </p:spPr>
      </p:sp>
      <p:sp>
        <p:nvSpPr>
          <p:cNvPr id="19" name="Text 16"/>
          <p:cNvSpPr/>
          <p:nvPr/>
        </p:nvSpPr>
        <p:spPr>
          <a:xfrm>
            <a:off x="831689" y="1568053"/>
            <a:ext cx="462893" cy="267891"/>
          </a:xfrm>
          <a:prstGeom prst="rect">
            <a:avLst/>
          </a:prstGeom>
          <a:noFill/>
          <a:ln/>
        </p:spPr>
        <p:txBody>
          <a:bodyPr wrap="none" lIns="102108" tIns="34036" rIns="102108" bIns="34036" rtlCol="0" anchor="t">
            <a:spAutoFit/>
          </a:bodyPr>
          <a:lstStyle/>
          <a:p>
            <a:pPr algn="l" indent="0" marL="0">
              <a:buNone/>
            </a:pPr>
            <a:r>
              <a:rPr lang="en-US" sz="700" b="1" dirty="0">
                <a:solidFill>
                  <a:srgbClr val="FFFFFF"/>
                </a:solidFill>
                <a:latin typeface="Noto Sans Arabic Bold" pitchFamily="34" charset="0"/>
                <a:ea typeface="Noto Sans Arabic Bold" pitchFamily="34" charset="-122"/>
                <a:cs typeface="Noto Sans Arabic Bold" pitchFamily="34" charset="-120"/>
              </a:rPr>
              <a:t>مكتمل</a:t>
            </a:r>
            <a:endParaRPr lang="en-US" sz="700" dirty="0"/>
          </a:p>
        </p:txBody>
      </p:sp>
      <p:sp>
        <p:nvSpPr>
          <p:cNvPr id="20" name="Shape 17"/>
          <p:cNvSpPr/>
          <p:nvPr/>
        </p:nvSpPr>
        <p:spPr>
          <a:xfrm>
            <a:off x="285750" y="1907381"/>
            <a:ext cx="8572500" cy="421481"/>
          </a:xfrm>
          <a:prstGeom prst="rect">
            <a:avLst/>
          </a:prstGeom>
          <a:solidFill>
            <a:srgbClr val="F8FAFC"/>
          </a:solidFill>
          <a:ln/>
        </p:spPr>
      </p:sp>
      <p:sp>
        <p:nvSpPr>
          <p:cNvPr id="21" name="Text 18"/>
          <p:cNvSpPr/>
          <p:nvPr/>
        </p:nvSpPr>
        <p:spPr>
          <a:xfrm>
            <a:off x="7829215" y="1907381"/>
            <a:ext cx="1029035" cy="421481"/>
          </a:xfrm>
          <a:prstGeom prst="rect">
            <a:avLst/>
          </a:prstGeom>
          <a:noFill/>
          <a:ln/>
        </p:spPr>
        <p:txBody>
          <a:bodyPr wrap="non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02</a:t>
            </a:r>
            <a:endParaRPr lang="en-US" sz="850" dirty="0"/>
          </a:p>
        </p:txBody>
      </p:sp>
      <p:sp>
        <p:nvSpPr>
          <p:cNvPr id="22" name="Text 19"/>
          <p:cNvSpPr/>
          <p:nvPr/>
        </p:nvSpPr>
        <p:spPr>
          <a:xfrm>
            <a:off x="5015526" y="1907381"/>
            <a:ext cx="28136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خطة وتقرير التدقيق الخارجي</a:t>
            </a:r>
            <a:endParaRPr lang="en-US" sz="850" dirty="0"/>
          </a:p>
        </p:txBody>
      </p:sp>
      <p:sp>
        <p:nvSpPr>
          <p:cNvPr id="23" name="Text 20"/>
          <p:cNvSpPr/>
          <p:nvPr/>
        </p:nvSpPr>
        <p:spPr>
          <a:xfrm>
            <a:off x="1401738" y="1907381"/>
            <a:ext cx="36137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نتائج محاكاة التدقيق على أعمال الفريق.</a:t>
            </a:r>
            <a:endParaRPr lang="en-US" sz="850" dirty="0"/>
          </a:p>
        </p:txBody>
      </p:sp>
      <p:sp>
        <p:nvSpPr>
          <p:cNvPr id="24" name="Shape 21"/>
          <p:cNvSpPr/>
          <p:nvPr/>
        </p:nvSpPr>
        <p:spPr>
          <a:xfrm>
            <a:off x="831689" y="1989534"/>
            <a:ext cx="462893" cy="267891"/>
          </a:xfrm>
          <a:prstGeom prst="rect">
            <a:avLst/>
          </a:prstGeom>
          <a:solidFill>
            <a:srgbClr val="38BDF8"/>
          </a:solidFill>
          <a:ln/>
        </p:spPr>
      </p:sp>
      <p:sp>
        <p:nvSpPr>
          <p:cNvPr id="25" name="Text 22"/>
          <p:cNvSpPr/>
          <p:nvPr/>
        </p:nvSpPr>
        <p:spPr>
          <a:xfrm>
            <a:off x="831689" y="1989534"/>
            <a:ext cx="462893" cy="267891"/>
          </a:xfrm>
          <a:prstGeom prst="rect">
            <a:avLst/>
          </a:prstGeom>
          <a:noFill/>
          <a:ln/>
        </p:spPr>
        <p:txBody>
          <a:bodyPr wrap="none" lIns="102108" tIns="34036" rIns="102108" bIns="34036" rtlCol="0" anchor="t">
            <a:spAutoFit/>
          </a:bodyPr>
          <a:lstStyle/>
          <a:p>
            <a:pPr algn="l" indent="0" marL="0">
              <a:buNone/>
            </a:pPr>
            <a:r>
              <a:rPr lang="en-US" sz="700" b="1" dirty="0">
                <a:solidFill>
                  <a:srgbClr val="FFFFFF"/>
                </a:solidFill>
                <a:latin typeface="Noto Sans Arabic Bold" pitchFamily="34" charset="0"/>
                <a:ea typeface="Noto Sans Arabic Bold" pitchFamily="34" charset="-122"/>
                <a:cs typeface="Noto Sans Arabic Bold" pitchFamily="34" charset="-120"/>
              </a:rPr>
              <a:t>مكتمل</a:t>
            </a:r>
            <a:endParaRPr lang="en-US" sz="700" dirty="0"/>
          </a:p>
        </p:txBody>
      </p:sp>
      <p:sp>
        <p:nvSpPr>
          <p:cNvPr id="26" name="Text 23"/>
          <p:cNvSpPr/>
          <p:nvPr/>
        </p:nvSpPr>
        <p:spPr>
          <a:xfrm>
            <a:off x="7829215" y="2328863"/>
            <a:ext cx="1029035" cy="421481"/>
          </a:xfrm>
          <a:prstGeom prst="rect">
            <a:avLst/>
          </a:prstGeom>
          <a:noFill/>
          <a:ln/>
        </p:spPr>
        <p:txBody>
          <a:bodyPr wrap="non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03</a:t>
            </a:r>
            <a:endParaRPr lang="en-US" sz="850" dirty="0"/>
          </a:p>
        </p:txBody>
      </p:sp>
      <p:sp>
        <p:nvSpPr>
          <p:cNvPr id="27" name="Text 24"/>
          <p:cNvSpPr/>
          <p:nvPr/>
        </p:nvSpPr>
        <p:spPr>
          <a:xfrm>
            <a:off x="5015526" y="2328863"/>
            <a:ext cx="28136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خطة الإجراءات التصحيحية</a:t>
            </a:r>
            <a:endParaRPr lang="en-US" sz="850" dirty="0"/>
          </a:p>
        </p:txBody>
      </p:sp>
      <p:sp>
        <p:nvSpPr>
          <p:cNvPr id="28" name="Text 25"/>
          <p:cNvSpPr/>
          <p:nvPr/>
        </p:nvSpPr>
        <p:spPr>
          <a:xfrm>
            <a:off x="1401738" y="2328863"/>
            <a:ext cx="36137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إغلاق الملاحظات المكتشفة في التدقيق.</a:t>
            </a:r>
            <a:endParaRPr lang="en-US" sz="850" dirty="0"/>
          </a:p>
        </p:txBody>
      </p:sp>
      <p:sp>
        <p:nvSpPr>
          <p:cNvPr id="29" name="Shape 26"/>
          <p:cNvSpPr/>
          <p:nvPr/>
        </p:nvSpPr>
        <p:spPr>
          <a:xfrm>
            <a:off x="831689" y="2411016"/>
            <a:ext cx="462893" cy="267891"/>
          </a:xfrm>
          <a:prstGeom prst="rect">
            <a:avLst/>
          </a:prstGeom>
          <a:solidFill>
            <a:srgbClr val="38BDF8"/>
          </a:solidFill>
          <a:ln/>
        </p:spPr>
      </p:sp>
      <p:sp>
        <p:nvSpPr>
          <p:cNvPr id="30" name="Text 27"/>
          <p:cNvSpPr/>
          <p:nvPr/>
        </p:nvSpPr>
        <p:spPr>
          <a:xfrm>
            <a:off x="831689" y="2411016"/>
            <a:ext cx="462893" cy="267891"/>
          </a:xfrm>
          <a:prstGeom prst="rect">
            <a:avLst/>
          </a:prstGeom>
          <a:noFill/>
          <a:ln/>
        </p:spPr>
        <p:txBody>
          <a:bodyPr wrap="none" lIns="102108" tIns="34036" rIns="102108" bIns="34036" rtlCol="0" anchor="t">
            <a:spAutoFit/>
          </a:bodyPr>
          <a:lstStyle/>
          <a:p>
            <a:pPr algn="l" indent="0" marL="0">
              <a:buNone/>
            </a:pPr>
            <a:r>
              <a:rPr lang="en-US" sz="700" b="1" dirty="0">
                <a:solidFill>
                  <a:srgbClr val="FFFFFF"/>
                </a:solidFill>
                <a:latin typeface="Noto Sans Arabic Bold" pitchFamily="34" charset="0"/>
                <a:ea typeface="Noto Sans Arabic Bold" pitchFamily="34" charset="-122"/>
                <a:cs typeface="Noto Sans Arabic Bold" pitchFamily="34" charset="-120"/>
              </a:rPr>
              <a:t>مكتمل</a:t>
            </a:r>
            <a:endParaRPr lang="en-US" sz="700" dirty="0"/>
          </a:p>
        </p:txBody>
      </p:sp>
      <p:sp>
        <p:nvSpPr>
          <p:cNvPr id="31" name="Shape 28"/>
          <p:cNvSpPr/>
          <p:nvPr/>
        </p:nvSpPr>
        <p:spPr>
          <a:xfrm>
            <a:off x="285750" y="2750344"/>
            <a:ext cx="8572500" cy="421481"/>
          </a:xfrm>
          <a:prstGeom prst="rect">
            <a:avLst/>
          </a:prstGeom>
          <a:solidFill>
            <a:srgbClr val="F8FAFC"/>
          </a:solidFill>
          <a:ln/>
        </p:spPr>
      </p:sp>
      <p:sp>
        <p:nvSpPr>
          <p:cNvPr id="32" name="Text 29"/>
          <p:cNvSpPr/>
          <p:nvPr/>
        </p:nvSpPr>
        <p:spPr>
          <a:xfrm>
            <a:off x="7829215" y="2750344"/>
            <a:ext cx="1029035" cy="421481"/>
          </a:xfrm>
          <a:prstGeom prst="rect">
            <a:avLst/>
          </a:prstGeom>
          <a:noFill/>
          <a:ln/>
        </p:spPr>
        <p:txBody>
          <a:bodyPr wrap="non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04</a:t>
            </a:r>
            <a:endParaRPr lang="en-US" sz="850" dirty="0"/>
          </a:p>
        </p:txBody>
      </p:sp>
      <p:sp>
        <p:nvSpPr>
          <p:cNvPr id="33" name="Text 30"/>
          <p:cNvSpPr/>
          <p:nvPr/>
        </p:nvSpPr>
        <p:spPr>
          <a:xfrm>
            <a:off x="5015526" y="2750344"/>
            <a:ext cx="28136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حزمة أدلة الاختبارات</a:t>
            </a:r>
            <a:endParaRPr lang="en-US" sz="850" dirty="0"/>
          </a:p>
        </p:txBody>
      </p:sp>
      <p:sp>
        <p:nvSpPr>
          <p:cNvPr id="34" name="Text 31"/>
          <p:cNvSpPr/>
          <p:nvPr/>
        </p:nvSpPr>
        <p:spPr>
          <a:xfrm>
            <a:off x="1401738" y="2750344"/>
            <a:ext cx="36137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نتائج اختبارات الاستعادة والتعافي والحوادث.</a:t>
            </a:r>
            <a:endParaRPr lang="en-US" sz="850" dirty="0"/>
          </a:p>
        </p:txBody>
      </p:sp>
      <p:sp>
        <p:nvSpPr>
          <p:cNvPr id="35" name="Shape 32"/>
          <p:cNvSpPr/>
          <p:nvPr/>
        </p:nvSpPr>
        <p:spPr>
          <a:xfrm>
            <a:off x="831689" y="2832497"/>
            <a:ext cx="462893" cy="267891"/>
          </a:xfrm>
          <a:prstGeom prst="rect">
            <a:avLst/>
          </a:prstGeom>
          <a:solidFill>
            <a:srgbClr val="38BDF8"/>
          </a:solidFill>
          <a:ln/>
        </p:spPr>
      </p:sp>
      <p:sp>
        <p:nvSpPr>
          <p:cNvPr id="36" name="Text 33"/>
          <p:cNvSpPr/>
          <p:nvPr/>
        </p:nvSpPr>
        <p:spPr>
          <a:xfrm>
            <a:off x="831689" y="2832497"/>
            <a:ext cx="462893" cy="267891"/>
          </a:xfrm>
          <a:prstGeom prst="rect">
            <a:avLst/>
          </a:prstGeom>
          <a:noFill/>
          <a:ln/>
        </p:spPr>
        <p:txBody>
          <a:bodyPr wrap="none" lIns="102108" tIns="34036" rIns="102108" bIns="34036" rtlCol="0" anchor="t">
            <a:spAutoFit/>
          </a:bodyPr>
          <a:lstStyle/>
          <a:p>
            <a:pPr algn="l" indent="0" marL="0">
              <a:buNone/>
            </a:pPr>
            <a:r>
              <a:rPr lang="en-US" sz="700" b="1" dirty="0">
                <a:solidFill>
                  <a:srgbClr val="FFFFFF"/>
                </a:solidFill>
                <a:latin typeface="Noto Sans Arabic Bold" pitchFamily="34" charset="0"/>
                <a:ea typeface="Noto Sans Arabic Bold" pitchFamily="34" charset="-122"/>
                <a:cs typeface="Noto Sans Arabic Bold" pitchFamily="34" charset="-120"/>
              </a:rPr>
              <a:t>مكتمل</a:t>
            </a:r>
            <a:endParaRPr lang="en-US" sz="700" dirty="0"/>
          </a:p>
        </p:txBody>
      </p:sp>
      <p:sp>
        <p:nvSpPr>
          <p:cNvPr id="37" name="Text 34"/>
          <p:cNvSpPr/>
          <p:nvPr/>
        </p:nvSpPr>
        <p:spPr>
          <a:xfrm>
            <a:off x="7829215" y="3171825"/>
            <a:ext cx="1029035" cy="421481"/>
          </a:xfrm>
          <a:prstGeom prst="rect">
            <a:avLst/>
          </a:prstGeom>
          <a:noFill/>
          <a:ln/>
        </p:spPr>
        <p:txBody>
          <a:bodyPr wrap="non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05</a:t>
            </a:r>
            <a:endParaRPr lang="en-US" sz="850" dirty="0"/>
          </a:p>
        </p:txBody>
      </p:sp>
      <p:sp>
        <p:nvSpPr>
          <p:cNvPr id="38" name="Text 35"/>
          <p:cNvSpPr/>
          <p:nvPr/>
        </p:nvSpPr>
        <p:spPr>
          <a:xfrm>
            <a:off x="5015526" y="3171825"/>
            <a:ext cx="28136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سجل الفريق ومحاضر الاجتماعات</a:t>
            </a:r>
            <a:endParaRPr lang="en-US" sz="850" dirty="0"/>
          </a:p>
        </p:txBody>
      </p:sp>
      <p:sp>
        <p:nvSpPr>
          <p:cNvPr id="39" name="Text 36"/>
          <p:cNvSpPr/>
          <p:nvPr/>
        </p:nvSpPr>
        <p:spPr>
          <a:xfrm>
            <a:off x="1401738" y="3171825"/>
            <a:ext cx="36137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إثبات العمل الجماعي وتوزيع المهام.</a:t>
            </a:r>
            <a:endParaRPr lang="en-US" sz="850" dirty="0"/>
          </a:p>
        </p:txBody>
      </p:sp>
      <p:sp>
        <p:nvSpPr>
          <p:cNvPr id="40" name="Shape 37"/>
          <p:cNvSpPr/>
          <p:nvPr/>
        </p:nvSpPr>
        <p:spPr>
          <a:xfrm>
            <a:off x="831689" y="3253978"/>
            <a:ext cx="462893" cy="267891"/>
          </a:xfrm>
          <a:prstGeom prst="rect">
            <a:avLst/>
          </a:prstGeom>
          <a:solidFill>
            <a:srgbClr val="38BDF8"/>
          </a:solidFill>
          <a:ln/>
        </p:spPr>
      </p:sp>
      <p:sp>
        <p:nvSpPr>
          <p:cNvPr id="41" name="Text 38"/>
          <p:cNvSpPr/>
          <p:nvPr/>
        </p:nvSpPr>
        <p:spPr>
          <a:xfrm>
            <a:off x="831689" y="3253978"/>
            <a:ext cx="462893" cy="267891"/>
          </a:xfrm>
          <a:prstGeom prst="rect">
            <a:avLst/>
          </a:prstGeom>
          <a:noFill/>
          <a:ln/>
        </p:spPr>
        <p:txBody>
          <a:bodyPr wrap="none" lIns="102108" tIns="34036" rIns="102108" bIns="34036" rtlCol="0" anchor="t">
            <a:spAutoFit/>
          </a:bodyPr>
          <a:lstStyle/>
          <a:p>
            <a:pPr algn="l" indent="0" marL="0">
              <a:buNone/>
            </a:pPr>
            <a:r>
              <a:rPr lang="en-US" sz="700" b="1" dirty="0">
                <a:solidFill>
                  <a:srgbClr val="FFFFFF"/>
                </a:solidFill>
                <a:latin typeface="Noto Sans Arabic Bold" pitchFamily="34" charset="0"/>
                <a:ea typeface="Noto Sans Arabic Bold" pitchFamily="34" charset="-122"/>
                <a:cs typeface="Noto Sans Arabic Bold" pitchFamily="34" charset="-120"/>
              </a:rPr>
              <a:t>مكتمل</a:t>
            </a:r>
            <a:endParaRPr lang="en-US" sz="700" dirty="0"/>
          </a:p>
        </p:txBody>
      </p:sp>
      <p:sp>
        <p:nvSpPr>
          <p:cNvPr id="42" name="Shape 39"/>
          <p:cNvSpPr/>
          <p:nvPr/>
        </p:nvSpPr>
        <p:spPr>
          <a:xfrm>
            <a:off x="285750" y="3593306"/>
            <a:ext cx="8572500" cy="421481"/>
          </a:xfrm>
          <a:prstGeom prst="rect">
            <a:avLst/>
          </a:prstGeom>
          <a:solidFill>
            <a:srgbClr val="F8FAFC"/>
          </a:solidFill>
          <a:ln/>
        </p:spPr>
      </p:sp>
      <p:sp>
        <p:nvSpPr>
          <p:cNvPr id="43" name="Text 40"/>
          <p:cNvSpPr/>
          <p:nvPr/>
        </p:nvSpPr>
        <p:spPr>
          <a:xfrm>
            <a:off x="7829215" y="3593306"/>
            <a:ext cx="1029035" cy="421481"/>
          </a:xfrm>
          <a:prstGeom prst="rect">
            <a:avLst/>
          </a:prstGeom>
          <a:noFill/>
          <a:ln/>
        </p:spPr>
        <p:txBody>
          <a:bodyPr wrap="non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06</a:t>
            </a:r>
            <a:endParaRPr lang="en-US" sz="850" dirty="0"/>
          </a:p>
        </p:txBody>
      </p:sp>
      <p:sp>
        <p:nvSpPr>
          <p:cNvPr id="44" name="Text 41"/>
          <p:cNvSpPr/>
          <p:nvPr/>
        </p:nvSpPr>
        <p:spPr>
          <a:xfrm>
            <a:off x="5015526" y="3593306"/>
            <a:ext cx="28136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فهرس التسليم النهائي</a:t>
            </a:r>
            <a:endParaRPr lang="en-US" sz="850" dirty="0"/>
          </a:p>
        </p:txBody>
      </p:sp>
      <p:sp>
        <p:nvSpPr>
          <p:cNvPr id="45" name="Text 42"/>
          <p:cNvSpPr/>
          <p:nvPr/>
        </p:nvSpPr>
        <p:spPr>
          <a:xfrm>
            <a:off x="1401738" y="3593306"/>
            <a:ext cx="3613789" cy="421481"/>
          </a:xfrm>
          <a:prstGeom prst="rect">
            <a:avLst/>
          </a:prstGeom>
          <a:noFill/>
          <a:ln/>
        </p:spPr>
        <p:txBody>
          <a:bodyPr wrap="square" lIns="127508" tIns="102108" rIns="127508" bIns="102108" rtlCol="0" anchor="ctr">
            <a:spAutoFit/>
          </a:bodyPr>
          <a:lstStyle/>
          <a:p>
            <a:pPr algn="l" indent="0" marL="0">
              <a:buNone/>
            </a:pPr>
            <a:r>
              <a:rPr lang="en-US" sz="850" dirty="0">
                <a:solidFill>
                  <a:srgbClr val="0F172A"/>
                </a:solidFill>
                <a:latin typeface="Noto Sans Arabic" pitchFamily="34" charset="0"/>
                <a:ea typeface="Noto Sans Arabic" pitchFamily="34" charset="-122"/>
                <a:cs typeface="Noto Sans Arabic" pitchFamily="34" charset="-120"/>
              </a:rPr>
              <a:t>قائمة الوثائق الخمس عشرة المعتمدة.</a:t>
            </a:r>
            <a:endParaRPr lang="en-US" sz="850" dirty="0"/>
          </a:p>
        </p:txBody>
      </p:sp>
      <p:sp>
        <p:nvSpPr>
          <p:cNvPr id="46" name="Shape 43"/>
          <p:cNvSpPr/>
          <p:nvPr/>
        </p:nvSpPr>
        <p:spPr>
          <a:xfrm>
            <a:off x="831689" y="3675459"/>
            <a:ext cx="462893" cy="267891"/>
          </a:xfrm>
          <a:prstGeom prst="rect">
            <a:avLst/>
          </a:prstGeom>
          <a:solidFill>
            <a:srgbClr val="38BDF8"/>
          </a:solidFill>
          <a:ln/>
        </p:spPr>
      </p:sp>
      <p:sp>
        <p:nvSpPr>
          <p:cNvPr id="47" name="Text 44"/>
          <p:cNvSpPr/>
          <p:nvPr/>
        </p:nvSpPr>
        <p:spPr>
          <a:xfrm>
            <a:off x="831689" y="3675459"/>
            <a:ext cx="462893" cy="267891"/>
          </a:xfrm>
          <a:prstGeom prst="rect">
            <a:avLst/>
          </a:prstGeom>
          <a:noFill/>
          <a:ln/>
        </p:spPr>
        <p:txBody>
          <a:bodyPr wrap="none" lIns="102108" tIns="34036" rIns="102108" bIns="34036" rtlCol="0" anchor="t">
            <a:spAutoFit/>
          </a:bodyPr>
          <a:lstStyle/>
          <a:p>
            <a:pPr algn="l" indent="0" marL="0">
              <a:buNone/>
            </a:pPr>
            <a:r>
              <a:rPr lang="en-US" sz="700" b="1" dirty="0">
                <a:solidFill>
                  <a:srgbClr val="FFFFFF"/>
                </a:solidFill>
                <a:latin typeface="Noto Sans Arabic Bold" pitchFamily="34" charset="0"/>
                <a:ea typeface="Noto Sans Arabic Bold" pitchFamily="34" charset="-122"/>
                <a:cs typeface="Noto Sans Arabic Bold" pitchFamily="34" charset="-120"/>
              </a:rPr>
              <a:t>مكتمل</a:t>
            </a:r>
            <a:endParaRPr lang="en-US" sz="700" dirty="0"/>
          </a:p>
        </p:txBody>
      </p:sp>
      <p:sp>
        <p:nvSpPr>
          <p:cNvPr id="48" name="Text 45"/>
          <p:cNvSpPr/>
          <p:nvPr/>
        </p:nvSpPr>
        <p:spPr>
          <a:xfrm>
            <a:off x="285750" y="4232672"/>
            <a:ext cx="8572500"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0F172A"/>
                </a:solidFill>
                <a:latin typeface="Noto Sans Arabic" pitchFamily="34" charset="0"/>
                <a:ea typeface="Noto Sans Arabic" pitchFamily="34" charset="-122"/>
                <a:cs typeface="Noto Sans Arabic" pitchFamily="34" charset="-120"/>
              </a:rPr>
              <a:t>تم إعداد هذه الحزمة لرفع جاهزية المشروع من "نظام وثائقي" إلى "نظام قابل للتدقيق والإثبات"، مما يضمن تغطية كافة معايير التقييم بنسبة 100%.</a:t>
            </a:r>
            <a:endParaRPr lang="en-US" sz="950" dirty="0"/>
          </a:p>
        </p:txBody>
      </p:sp>
      <p:sp>
        <p:nvSpPr>
          <p:cNvPr id="49" name="Text 46"/>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50" name="Text 47"/>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 y="907256"/>
            <a:ext cx="8572500" cy="650081"/>
          </a:xfrm>
          <a:prstGeom prst="rect">
            <a:avLst/>
          </a:prstGeom>
          <a:noFill/>
          <a:ln/>
        </p:spPr>
        <p:txBody>
          <a:bodyPr wrap="square" lIns="0" tIns="0" rIns="0" bIns="0" rtlCol="0" anchor="t">
            <a:spAutoFit/>
          </a:bodyPr>
          <a:lstStyle/>
          <a:p>
            <a:pPr algn="l" indent="0" marL="0">
              <a:buNone/>
            </a:pPr>
            <a:r>
              <a:rPr lang="en-US" sz="2450" b="1" dirty="0">
                <a:solidFill>
                  <a:srgbClr val="0F172A"/>
                </a:solidFill>
                <a:latin typeface="Noto Kufi Arabic Bold" pitchFamily="34" charset="0"/>
                <a:ea typeface="Noto Kufi Arabic Bold" pitchFamily="34" charset="-122"/>
                <a:cs typeface="Noto Kufi Arabic Bold" pitchFamily="34" charset="-120"/>
              </a:rPr>
              <a:t>الخلاصة والأسئلة</a:t>
            </a:r>
            <a:endParaRPr lang="en-US" sz="2450" dirty="0"/>
          </a:p>
        </p:txBody>
      </p:sp>
      <p:sp>
        <p:nvSpPr>
          <p:cNvPr id="4" name="Shape 1"/>
          <p:cNvSpPr/>
          <p:nvPr/>
        </p:nvSpPr>
        <p:spPr>
          <a:xfrm>
            <a:off x="285750" y="1771650"/>
            <a:ext cx="8572500" cy="1625203"/>
          </a:xfrm>
          <a:prstGeom prst="rect">
            <a:avLst/>
          </a:prstGeom>
          <a:solidFill>
            <a:srgbClr val="FFFFFF"/>
          </a:solidFill>
          <a:ln/>
        </p:spPr>
      </p:sp>
      <p:sp>
        <p:nvSpPr>
          <p:cNvPr id="5" name="Shape 2"/>
          <p:cNvSpPr/>
          <p:nvPr/>
        </p:nvSpPr>
        <p:spPr>
          <a:xfrm>
            <a:off x="285750" y="1771650"/>
            <a:ext cx="8572500" cy="28575"/>
          </a:xfrm>
          <a:prstGeom prst="rect">
            <a:avLst/>
          </a:prstGeom>
          <a:solidFill>
            <a:srgbClr val="8B5CF6"/>
          </a:solidFill>
          <a:ln/>
        </p:spPr>
      </p:sp>
      <p:sp>
        <p:nvSpPr>
          <p:cNvPr id="6" name="Shape 3"/>
          <p:cNvSpPr/>
          <p:nvPr/>
        </p:nvSpPr>
        <p:spPr>
          <a:xfrm>
            <a:off x="8851106" y="1771650"/>
            <a:ext cx="7144" cy="1625203"/>
          </a:xfrm>
          <a:prstGeom prst="rect">
            <a:avLst/>
          </a:prstGeom>
          <a:solidFill>
            <a:srgbClr val="E2E8F0"/>
          </a:solidFill>
          <a:ln/>
        </p:spPr>
      </p:sp>
      <p:sp>
        <p:nvSpPr>
          <p:cNvPr id="7" name="Shape 4"/>
          <p:cNvSpPr/>
          <p:nvPr/>
        </p:nvSpPr>
        <p:spPr>
          <a:xfrm>
            <a:off x="285750" y="3389709"/>
            <a:ext cx="8572500" cy="7144"/>
          </a:xfrm>
          <a:prstGeom prst="rect">
            <a:avLst/>
          </a:prstGeom>
          <a:solidFill>
            <a:srgbClr val="E2E8F0"/>
          </a:solidFill>
          <a:ln/>
        </p:spPr>
      </p:sp>
      <p:sp>
        <p:nvSpPr>
          <p:cNvPr id="8" name="Shape 5"/>
          <p:cNvSpPr/>
          <p:nvPr/>
        </p:nvSpPr>
        <p:spPr>
          <a:xfrm>
            <a:off x="285750" y="1771650"/>
            <a:ext cx="7144" cy="1625203"/>
          </a:xfrm>
          <a:prstGeom prst="rect">
            <a:avLst/>
          </a:prstGeom>
          <a:solidFill>
            <a:srgbClr val="E2E8F0"/>
          </a:solidFill>
          <a:ln/>
        </p:spPr>
      </p:sp>
      <p:sp>
        <p:nvSpPr>
          <p:cNvPr id="9" name="Text 6"/>
          <p:cNvSpPr/>
          <p:nvPr/>
        </p:nvSpPr>
        <p:spPr>
          <a:xfrm>
            <a:off x="571500" y="2075259"/>
            <a:ext cx="8001000" cy="360759"/>
          </a:xfrm>
          <a:prstGeom prst="rect">
            <a:avLst/>
          </a:prstGeom>
          <a:noFill/>
          <a:ln/>
        </p:spPr>
        <p:txBody>
          <a:bodyPr wrap="square" lIns="0" tIns="0" rIns="0" bIns="0" rtlCol="0" anchor="t">
            <a:spAutoFit/>
          </a:bodyPr>
          <a:lstStyle/>
          <a:p>
            <a:pPr algn="l" indent="0" marL="0">
              <a:buNone/>
            </a:pPr>
            <a:r>
              <a:rPr lang="en-US" sz="1200" b="1" dirty="0">
                <a:solidFill>
                  <a:srgbClr val="8B5CF6"/>
                </a:solidFill>
                <a:latin typeface="Noto Sans Arabic Bold" pitchFamily="34" charset="0"/>
                <a:ea typeface="Noto Sans Arabic Bold" pitchFamily="34" charset="-122"/>
                <a:cs typeface="Noto Sans Arabic Bold" pitchFamily="34" charset="-120"/>
              </a:rPr>
              <a:t>حكم الجاهزية</a:t>
            </a:r>
            <a:endParaRPr lang="en-US" sz="1200" dirty="0"/>
          </a:p>
        </p:txBody>
      </p:sp>
      <p:sp>
        <p:nvSpPr>
          <p:cNvPr id="10" name="Text 7"/>
          <p:cNvSpPr/>
          <p:nvPr/>
        </p:nvSpPr>
        <p:spPr>
          <a:xfrm>
            <a:off x="571500" y="2578894"/>
            <a:ext cx="8001000" cy="514350"/>
          </a:xfrm>
          <a:prstGeom prst="rect">
            <a:avLst/>
          </a:prstGeom>
          <a:noFill/>
          <a:ln/>
        </p:spPr>
        <p:txBody>
          <a:bodyPr wrap="square" lIns="0" tIns="0" rIns="0" bIns="0" rtlCol="0" anchor="t">
            <a:spAutoFit/>
          </a:bodyPr>
          <a:lstStyle/>
          <a:p>
            <a:pPr algn="l" indent="0" marL="0">
              <a:lnSpc>
                <a:spcPct val="144000"/>
              </a:lnSpc>
              <a:buNone/>
            </a:pPr>
            <a:r>
              <a:rPr lang="en-US" sz="1050" dirty="0">
                <a:solidFill>
                  <a:srgbClr val="0F172A"/>
                </a:solidFill>
                <a:latin typeface="Noto Sans Arabic" pitchFamily="34" charset="0"/>
                <a:ea typeface="Noto Sans Arabic" pitchFamily="34" charset="-122"/>
                <a:cs typeface="Noto Sans Arabic" pitchFamily="34" charset="-120"/>
              </a:rPr>
              <a:t>نظام إدارة أمن المعلومات لبنك الآفاق الرقمية مكتمل وثائقياً، ومترابط منطقياً، ومثبت بأدلة محاكاة تشغيلية وتدقيق خارجي. الفريق جاهز للدفاع عن القرارات الأمنية وتقديم كافة الأدلة المطلوبة للشهادة.</a:t>
            </a:r>
            <a:endParaRPr lang="en-US" sz="1050" dirty="0"/>
          </a:p>
        </p:txBody>
      </p:sp>
      <p:sp>
        <p:nvSpPr>
          <p:cNvPr id="11" name="Text 8"/>
          <p:cNvSpPr/>
          <p:nvPr/>
        </p:nvSpPr>
        <p:spPr>
          <a:xfrm>
            <a:off x="285750" y="3736181"/>
            <a:ext cx="8572500" cy="482203"/>
          </a:xfrm>
          <a:prstGeom prst="rect">
            <a:avLst/>
          </a:prstGeom>
          <a:noFill/>
          <a:ln/>
        </p:spPr>
        <p:txBody>
          <a:bodyPr wrap="square" lIns="0" tIns="0" rIns="0" bIns="0" rtlCol="0" anchor="t">
            <a:spAutoFit/>
          </a:bodyPr>
          <a:lstStyle/>
          <a:p>
            <a:pPr algn="ctr" indent="0" marL="0">
              <a:buNone/>
            </a:pPr>
            <a:r>
              <a:rPr lang="en-US" sz="1600" b="1" dirty="0">
                <a:solidFill>
                  <a:srgbClr val="64748B"/>
                </a:solidFill>
                <a:latin typeface="Noto Sans Arabic Bold" pitchFamily="34" charset="0"/>
                <a:ea typeface="Noto Sans Arabic Bold" pitchFamily="34" charset="-122"/>
                <a:cs typeface="Noto Sans Arabic Bold" pitchFamily="34" charset="-120"/>
              </a:rPr>
              <a:t>ندعوكم لطرح أسئلة التدقيق والمناقشة</a:t>
            </a:r>
            <a:endParaRPr lang="en-US" sz="1600" dirty="0"/>
          </a:p>
        </p:txBody>
      </p:sp>
      <p:sp>
        <p:nvSpPr>
          <p:cNvPr id="12" name="Text 9"/>
          <p:cNvSpPr/>
          <p:nvPr/>
        </p:nvSpPr>
        <p:spPr>
          <a:xfrm>
            <a:off x="8135113" y="4789884"/>
            <a:ext cx="723137"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بنك الآفاق الرقمية</a:t>
            </a:r>
            <a:endParaRPr lang="en-US" sz="750" dirty="0"/>
          </a:p>
        </p:txBody>
      </p:sp>
      <p:sp>
        <p:nvSpPr>
          <p:cNvPr id="13" name="Text 10"/>
          <p:cNvSpPr/>
          <p:nvPr/>
        </p:nvSpPr>
        <p:spPr>
          <a:xfrm>
            <a:off x="285750" y="4789884"/>
            <a:ext cx="57262" cy="210741"/>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Noto Sans Arabic" pitchFamily="34" charset="0"/>
                <a:ea typeface="Noto Sans Arabic" pitchFamily="34" charset="-122"/>
                <a:cs typeface="Noto Sans Arabic" pitchFamily="34" charset="-120"/>
              </a:rPr>
              <a:t>9</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2026-09-08T21:11:20Z</dcterms:created>
  <dcterms:modified xsi:type="dcterms:W3CDTF">2026-09-08T21:11:20Z</dcterms:modified>
</cp:coreProperties>
</file>